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8" r:id="rId2"/>
    <p:sldId id="260" r:id="rId3"/>
    <p:sldId id="261" r:id="rId4"/>
    <p:sldId id="262" r:id="rId5"/>
    <p:sldId id="263" r:id="rId6"/>
    <p:sldId id="265" r:id="rId7"/>
    <p:sldId id="267" r:id="rId8"/>
    <p:sldId id="268" r:id="rId9"/>
    <p:sldId id="264" r:id="rId10"/>
    <p:sldId id="266" r:id="rId11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583"/>
    <a:srgbClr val="F05299"/>
    <a:srgbClr val="FA826E"/>
    <a:srgbClr val="F2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BCE26B-B3AD-4B64-BEB6-73ED1CE1D8CD}" v="26" dt="2026-04-14T07:40:05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333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bagtsheer, Chris" userId="a81a26ba-eb45-4e75-9bfd-3b02b6213fd4" providerId="ADAL" clId="{CA0FDD11-0EF5-4A04-9CB0-6A9B178EB57F}"/>
    <pc:docChg chg="undo custSel addSld delSld modSld sldOrd">
      <pc:chgData name="Ambagtsheer, Chris" userId="a81a26ba-eb45-4e75-9bfd-3b02b6213fd4" providerId="ADAL" clId="{CA0FDD11-0EF5-4A04-9CB0-6A9B178EB57F}" dt="2026-04-14T07:40:51.737" v="1396" actId="14100"/>
      <pc:docMkLst>
        <pc:docMk/>
      </pc:docMkLst>
      <pc:sldChg chg="addSp modSp">
        <pc:chgData name="Ambagtsheer, Chris" userId="a81a26ba-eb45-4e75-9bfd-3b02b6213fd4" providerId="ADAL" clId="{CA0FDD11-0EF5-4A04-9CB0-6A9B178EB57F}" dt="2026-04-14T07:35:10.312" v="688" actId="164"/>
        <pc:sldMkLst>
          <pc:docMk/>
          <pc:sldMk cId="3266953735" sldId="260"/>
        </pc:sldMkLst>
        <pc:spChg chg="mod">
          <ac:chgData name="Ambagtsheer, Chris" userId="a81a26ba-eb45-4e75-9bfd-3b02b6213fd4" providerId="ADAL" clId="{CA0FDD11-0EF5-4A04-9CB0-6A9B178EB57F}" dt="2026-04-14T07:35:10.312" v="688" actId="164"/>
          <ac:spMkLst>
            <pc:docMk/>
            <pc:sldMk cId="3266953735" sldId="260"/>
            <ac:spMk id="2" creationId="{AE5697D6-CDAA-56B4-E15A-3BB8E5B22614}"/>
          </ac:spMkLst>
        </pc:spChg>
        <pc:spChg chg="mod">
          <ac:chgData name="Ambagtsheer, Chris" userId="a81a26ba-eb45-4e75-9bfd-3b02b6213fd4" providerId="ADAL" clId="{CA0FDD11-0EF5-4A04-9CB0-6A9B178EB57F}" dt="2026-04-14T07:35:10.312" v="688" actId="164"/>
          <ac:spMkLst>
            <pc:docMk/>
            <pc:sldMk cId="3266953735" sldId="260"/>
            <ac:spMk id="3" creationId="{A51E9BAD-A69F-1B22-4AAD-C85ACD7B148A}"/>
          </ac:spMkLst>
        </pc:spChg>
        <pc:grpChg chg="add mod">
          <ac:chgData name="Ambagtsheer, Chris" userId="a81a26ba-eb45-4e75-9bfd-3b02b6213fd4" providerId="ADAL" clId="{CA0FDD11-0EF5-4A04-9CB0-6A9B178EB57F}" dt="2026-04-14T07:35:10.312" v="688" actId="164"/>
          <ac:grpSpMkLst>
            <pc:docMk/>
            <pc:sldMk cId="3266953735" sldId="260"/>
            <ac:grpSpMk id="27" creationId="{A4EC7866-EDA5-D170-10D6-6754EED51301}"/>
          </ac:grpSpMkLst>
        </pc:grpChg>
        <pc:cxnChg chg="mod">
          <ac:chgData name="Ambagtsheer, Chris" userId="a81a26ba-eb45-4e75-9bfd-3b02b6213fd4" providerId="ADAL" clId="{CA0FDD11-0EF5-4A04-9CB0-6A9B178EB57F}" dt="2026-04-14T07:35:10.312" v="688" actId="164"/>
          <ac:cxnSpMkLst>
            <pc:docMk/>
            <pc:sldMk cId="3266953735" sldId="260"/>
            <ac:cxnSpMk id="8" creationId="{D75DCC10-B1FF-121F-8466-55155BE58396}"/>
          </ac:cxnSpMkLst>
        </pc:cxnChg>
        <pc:cxnChg chg="mod">
          <ac:chgData name="Ambagtsheer, Chris" userId="a81a26ba-eb45-4e75-9bfd-3b02b6213fd4" providerId="ADAL" clId="{CA0FDD11-0EF5-4A04-9CB0-6A9B178EB57F}" dt="2026-04-14T07:35:10.312" v="688" actId="164"/>
          <ac:cxnSpMkLst>
            <pc:docMk/>
            <pc:sldMk cId="3266953735" sldId="260"/>
            <ac:cxnSpMk id="16" creationId="{DF9495F2-B74C-E6E1-D4CC-26B365AFC10F}"/>
          </ac:cxnSpMkLst>
        </pc:cxnChg>
      </pc:sldChg>
      <pc:sldChg chg="addSp delSp modSp mod">
        <pc:chgData name="Ambagtsheer, Chris" userId="a81a26ba-eb45-4e75-9bfd-3b02b6213fd4" providerId="ADAL" clId="{CA0FDD11-0EF5-4A04-9CB0-6A9B178EB57F}" dt="2026-04-14T07:33:23.573" v="455"/>
        <pc:sldMkLst>
          <pc:docMk/>
          <pc:sldMk cId="3388655423" sldId="262"/>
        </pc:sldMkLst>
        <pc:spChg chg="mod">
          <ac:chgData name="Ambagtsheer, Chris" userId="a81a26ba-eb45-4e75-9bfd-3b02b6213fd4" providerId="ADAL" clId="{CA0FDD11-0EF5-4A04-9CB0-6A9B178EB57F}" dt="2026-04-14T07:32:36.350" v="453" actId="207"/>
          <ac:spMkLst>
            <pc:docMk/>
            <pc:sldMk cId="3388655423" sldId="262"/>
            <ac:spMk id="29" creationId="{73F73E38-02AC-2279-5BF2-1BCD731BF690}"/>
          </ac:spMkLst>
        </pc:spChg>
        <pc:spChg chg="mod">
          <ac:chgData name="Ambagtsheer, Chris" userId="a81a26ba-eb45-4e75-9bfd-3b02b6213fd4" providerId="ADAL" clId="{CA0FDD11-0EF5-4A04-9CB0-6A9B178EB57F}" dt="2026-04-14T07:32:36.350" v="453" actId="207"/>
          <ac:spMkLst>
            <pc:docMk/>
            <pc:sldMk cId="3388655423" sldId="262"/>
            <ac:spMk id="30" creationId="{648855A1-8BE3-B7A6-77A6-F33D0254D1E9}"/>
          </ac:spMkLst>
        </pc:spChg>
        <pc:spChg chg="add mod">
          <ac:chgData name="Ambagtsheer, Chris" userId="a81a26ba-eb45-4e75-9bfd-3b02b6213fd4" providerId="ADAL" clId="{CA0FDD11-0EF5-4A04-9CB0-6A9B178EB57F}" dt="2026-04-14T07:27:09.805" v="339" actId="20577"/>
          <ac:spMkLst>
            <pc:docMk/>
            <pc:sldMk cId="3388655423" sldId="262"/>
            <ac:spMk id="31" creationId="{BD6F5182-7A43-7384-63A7-64414600873A}"/>
          </ac:spMkLst>
        </pc:spChg>
        <pc:spChg chg="add del mod">
          <ac:chgData name="Ambagtsheer, Chris" userId="a81a26ba-eb45-4e75-9bfd-3b02b6213fd4" providerId="ADAL" clId="{CA0FDD11-0EF5-4A04-9CB0-6A9B178EB57F}" dt="2026-04-14T07:29:56.310" v="386" actId="20577"/>
          <ac:spMkLst>
            <pc:docMk/>
            <pc:sldMk cId="3388655423" sldId="262"/>
            <ac:spMk id="32" creationId="{6EA3B656-F9E5-D263-D6A1-119865768307}"/>
          </ac:spMkLst>
        </pc:spChg>
        <pc:spChg chg="add mod">
          <ac:chgData name="Ambagtsheer, Chris" userId="a81a26ba-eb45-4e75-9bfd-3b02b6213fd4" providerId="ADAL" clId="{CA0FDD11-0EF5-4A04-9CB0-6A9B178EB57F}" dt="2026-04-14T07:31:10.628" v="417" actId="20577"/>
          <ac:spMkLst>
            <pc:docMk/>
            <pc:sldMk cId="3388655423" sldId="262"/>
            <ac:spMk id="33" creationId="{61BC68A6-21A3-4CC7-EC33-F96CD9BE5E86}"/>
          </ac:spMkLst>
        </pc:spChg>
        <pc:spChg chg="add del mod">
          <ac:chgData name="Ambagtsheer, Chris" userId="a81a26ba-eb45-4e75-9bfd-3b02b6213fd4" providerId="ADAL" clId="{CA0FDD11-0EF5-4A04-9CB0-6A9B178EB57F}" dt="2026-04-14T07:31:14.528" v="419" actId="478"/>
          <ac:spMkLst>
            <pc:docMk/>
            <pc:sldMk cId="3388655423" sldId="262"/>
            <ac:spMk id="35" creationId="{1CA4CF67-9F36-C93F-1E36-40DE457B4907}"/>
          </ac:spMkLst>
        </pc:spChg>
        <pc:spChg chg="add mod">
          <ac:chgData name="Ambagtsheer, Chris" userId="a81a26ba-eb45-4e75-9bfd-3b02b6213fd4" providerId="ADAL" clId="{CA0FDD11-0EF5-4A04-9CB0-6A9B178EB57F}" dt="2026-04-14T07:31:43.833" v="449" actId="5793"/>
          <ac:spMkLst>
            <pc:docMk/>
            <pc:sldMk cId="3388655423" sldId="262"/>
            <ac:spMk id="37" creationId="{CCFC0812-E1BA-E0BE-3051-8F00F4B2D85F}"/>
          </ac:spMkLst>
        </pc:spChg>
        <pc:spChg chg="add mod">
          <ac:chgData name="Ambagtsheer, Chris" userId="a81a26ba-eb45-4e75-9bfd-3b02b6213fd4" providerId="ADAL" clId="{CA0FDD11-0EF5-4A04-9CB0-6A9B178EB57F}" dt="2026-04-14T07:33:23.197" v="454"/>
          <ac:spMkLst>
            <pc:docMk/>
            <pc:sldMk cId="3388655423" sldId="262"/>
            <ac:spMk id="42" creationId="{D0B9AF92-02F9-351F-6FB5-587BA6E29AB8}"/>
          </ac:spMkLst>
        </pc:spChg>
        <pc:spChg chg="add mod">
          <ac:chgData name="Ambagtsheer, Chris" userId="a81a26ba-eb45-4e75-9bfd-3b02b6213fd4" providerId="ADAL" clId="{CA0FDD11-0EF5-4A04-9CB0-6A9B178EB57F}" dt="2026-04-14T07:33:23.573" v="455"/>
          <ac:spMkLst>
            <pc:docMk/>
            <pc:sldMk cId="3388655423" sldId="262"/>
            <ac:spMk id="43" creationId="{268AA023-4AFC-BDE2-DCD8-8870683A63C5}"/>
          </ac:spMkLst>
        </pc:spChg>
      </pc:sldChg>
      <pc:sldChg chg="addSp delSp modSp add mod">
        <pc:chgData name="Ambagtsheer, Chris" userId="a81a26ba-eb45-4e75-9bfd-3b02b6213fd4" providerId="ADAL" clId="{CA0FDD11-0EF5-4A04-9CB0-6A9B178EB57F}" dt="2026-04-14T07:36:32.216" v="754" actId="478"/>
        <pc:sldMkLst>
          <pc:docMk/>
          <pc:sldMk cId="1940507385" sldId="263"/>
        </pc:sldMkLst>
        <pc:spChg chg="mod">
          <ac:chgData name="Ambagtsheer, Chris" userId="a81a26ba-eb45-4e75-9bfd-3b02b6213fd4" providerId="ADAL" clId="{CA0FDD11-0EF5-4A04-9CB0-6A9B178EB57F}" dt="2026-04-14T07:35:36.403" v="692" actId="14100"/>
          <ac:spMkLst>
            <pc:docMk/>
            <pc:sldMk cId="1940507385" sldId="263"/>
            <ac:spMk id="5" creationId="{DF876874-6558-1F36-506E-BB1E84E00F5C}"/>
          </ac:spMkLst>
        </pc:spChg>
        <pc:spChg chg="mod">
          <ac:chgData name="Ambagtsheer, Chris" userId="a81a26ba-eb45-4e75-9bfd-3b02b6213fd4" providerId="ADAL" clId="{CA0FDD11-0EF5-4A04-9CB0-6A9B178EB57F}" dt="2026-04-14T07:35:52.027" v="747" actId="20577"/>
          <ac:spMkLst>
            <pc:docMk/>
            <pc:sldMk cId="1940507385" sldId="263"/>
            <ac:spMk id="6" creationId="{779E222D-CF84-EB8F-AB88-3784EEB8D8A8}"/>
          </ac:spMkLst>
        </pc:spChg>
        <pc:grpChg chg="add mod">
          <ac:chgData name="Ambagtsheer, Chris" userId="a81a26ba-eb45-4e75-9bfd-3b02b6213fd4" providerId="ADAL" clId="{CA0FDD11-0EF5-4A04-9CB0-6A9B178EB57F}" dt="2026-04-14T07:35:25.940" v="690" actId="1076"/>
          <ac:grpSpMkLst>
            <pc:docMk/>
            <pc:sldMk cId="1940507385" sldId="263"/>
            <ac:grpSpMk id="2" creationId="{5C13FB01-10E3-DF3B-1EBD-4E72A658CC2E}"/>
          </ac:grpSpMkLst>
        </pc:grpChg>
        <pc:cxnChg chg="del mod">
          <ac:chgData name="Ambagtsheer, Chris" userId="a81a26ba-eb45-4e75-9bfd-3b02b6213fd4" providerId="ADAL" clId="{CA0FDD11-0EF5-4A04-9CB0-6A9B178EB57F}" dt="2026-04-14T07:36:32.216" v="754" actId="478"/>
          <ac:cxnSpMkLst>
            <pc:docMk/>
            <pc:sldMk cId="1940507385" sldId="263"/>
            <ac:cxnSpMk id="3" creationId="{29B62A7C-7336-5262-6D54-F48291C7326B}"/>
          </ac:cxnSpMkLst>
        </pc:cxnChg>
        <pc:cxnChg chg="mod">
          <ac:chgData name="Ambagtsheer, Chris" userId="a81a26ba-eb45-4e75-9bfd-3b02b6213fd4" providerId="ADAL" clId="{CA0FDD11-0EF5-4A04-9CB0-6A9B178EB57F}" dt="2026-04-14T07:35:16.641" v="689"/>
          <ac:cxnSpMkLst>
            <pc:docMk/>
            <pc:sldMk cId="1940507385" sldId="263"/>
            <ac:cxnSpMk id="7" creationId="{A60E1E7F-01B9-A67A-08FC-E6127AB1B058}"/>
          </ac:cxnSpMkLst>
        </pc:cxnChg>
      </pc:sldChg>
      <pc:sldChg chg="addSp modSp add mod">
        <pc:chgData name="Ambagtsheer, Chris" userId="a81a26ba-eb45-4e75-9bfd-3b02b6213fd4" providerId="ADAL" clId="{CA0FDD11-0EF5-4A04-9CB0-6A9B178EB57F}" dt="2026-04-14T07:34:34.840" v="687" actId="20577"/>
        <pc:sldMkLst>
          <pc:docMk/>
          <pc:sldMk cId="3873433159" sldId="264"/>
        </pc:sldMkLst>
        <pc:spChg chg="mod">
          <ac:chgData name="Ambagtsheer, Chris" userId="a81a26ba-eb45-4e75-9bfd-3b02b6213fd4" providerId="ADAL" clId="{CA0FDD11-0EF5-4A04-9CB0-6A9B178EB57F}" dt="2026-04-14T07:33:49.021" v="461" actId="14100"/>
          <ac:spMkLst>
            <pc:docMk/>
            <pc:sldMk cId="3873433159" sldId="264"/>
            <ac:spMk id="3" creationId="{4DDEC15A-76C7-0648-2185-D9F0B325FC45}"/>
          </ac:spMkLst>
        </pc:spChg>
        <pc:spChg chg="mod">
          <ac:chgData name="Ambagtsheer, Chris" userId="a81a26ba-eb45-4e75-9bfd-3b02b6213fd4" providerId="ADAL" clId="{CA0FDD11-0EF5-4A04-9CB0-6A9B178EB57F}" dt="2026-04-14T07:34:34.840" v="687" actId="20577"/>
          <ac:spMkLst>
            <pc:docMk/>
            <pc:sldMk cId="3873433159" sldId="264"/>
            <ac:spMk id="5" creationId="{9877EE09-DD76-8022-D541-78C279AF6E18}"/>
          </ac:spMkLst>
        </pc:spChg>
        <pc:grpChg chg="add mod">
          <ac:chgData name="Ambagtsheer, Chris" userId="a81a26ba-eb45-4e75-9bfd-3b02b6213fd4" providerId="ADAL" clId="{CA0FDD11-0EF5-4A04-9CB0-6A9B178EB57F}" dt="2026-04-14T07:33:42.594" v="460" actId="14100"/>
          <ac:grpSpMkLst>
            <pc:docMk/>
            <pc:sldMk cId="3873433159" sldId="264"/>
            <ac:grpSpMk id="2" creationId="{08E26A64-6C27-9BF6-B24B-D06BE02C4756}"/>
          </ac:grpSpMkLst>
        </pc:grpChg>
        <pc:cxnChg chg="mod">
          <ac:chgData name="Ambagtsheer, Chris" userId="a81a26ba-eb45-4e75-9bfd-3b02b6213fd4" providerId="ADAL" clId="{CA0FDD11-0EF5-4A04-9CB0-6A9B178EB57F}" dt="2026-04-14T07:33:34.187" v="458"/>
          <ac:cxnSpMkLst>
            <pc:docMk/>
            <pc:sldMk cId="3873433159" sldId="264"/>
            <ac:cxnSpMk id="6" creationId="{8ED609F3-4C67-EDE6-E510-A647F003EC34}"/>
          </ac:cxnSpMkLst>
        </pc:cxnChg>
      </pc:sldChg>
      <pc:sldChg chg="addSp delSp modSp add mod ord">
        <pc:chgData name="Ambagtsheer, Chris" userId="a81a26ba-eb45-4e75-9bfd-3b02b6213fd4" providerId="ADAL" clId="{CA0FDD11-0EF5-4A04-9CB0-6A9B178EB57F}" dt="2026-04-14T07:39:46.677" v="1256" actId="14100"/>
        <pc:sldMkLst>
          <pc:docMk/>
          <pc:sldMk cId="4166023229" sldId="265"/>
        </pc:sldMkLst>
        <pc:spChg chg="mod">
          <ac:chgData name="Ambagtsheer, Chris" userId="a81a26ba-eb45-4e75-9bfd-3b02b6213fd4" providerId="ADAL" clId="{CA0FDD11-0EF5-4A04-9CB0-6A9B178EB57F}" dt="2026-04-14T07:36:18.229" v="753" actId="14100"/>
          <ac:spMkLst>
            <pc:docMk/>
            <pc:sldMk cId="4166023229" sldId="265"/>
            <ac:spMk id="5" creationId="{7FE96033-AAE8-35FD-F9C8-579F68006E5A}"/>
          </ac:spMkLst>
        </pc:spChg>
        <pc:spChg chg="mod">
          <ac:chgData name="Ambagtsheer, Chris" userId="a81a26ba-eb45-4e75-9bfd-3b02b6213fd4" providerId="ADAL" clId="{CA0FDD11-0EF5-4A04-9CB0-6A9B178EB57F}" dt="2026-04-14T07:39:46.677" v="1256" actId="14100"/>
          <ac:spMkLst>
            <pc:docMk/>
            <pc:sldMk cId="4166023229" sldId="265"/>
            <ac:spMk id="6" creationId="{04989E59-4EF1-44D2-F8E6-601AD8F75515}"/>
          </ac:spMkLst>
        </pc:spChg>
        <pc:grpChg chg="add mod">
          <ac:chgData name="Ambagtsheer, Chris" userId="a81a26ba-eb45-4e75-9bfd-3b02b6213fd4" providerId="ADAL" clId="{CA0FDD11-0EF5-4A04-9CB0-6A9B178EB57F}" dt="2026-04-14T07:36:06.388" v="751"/>
          <ac:grpSpMkLst>
            <pc:docMk/>
            <pc:sldMk cId="4166023229" sldId="265"/>
            <ac:grpSpMk id="2" creationId="{E61ABD0D-C558-2628-F759-38965DA96DF7}"/>
          </ac:grpSpMkLst>
        </pc:grpChg>
        <pc:cxnChg chg="del mod">
          <ac:chgData name="Ambagtsheer, Chris" userId="a81a26ba-eb45-4e75-9bfd-3b02b6213fd4" providerId="ADAL" clId="{CA0FDD11-0EF5-4A04-9CB0-6A9B178EB57F}" dt="2026-04-14T07:36:36.385" v="755" actId="478"/>
          <ac:cxnSpMkLst>
            <pc:docMk/>
            <pc:sldMk cId="4166023229" sldId="265"/>
            <ac:cxnSpMk id="3" creationId="{4AB16998-ECF1-6F78-7324-6A243BCF6511}"/>
          </ac:cxnSpMkLst>
        </pc:cxnChg>
        <pc:cxnChg chg="mod">
          <ac:chgData name="Ambagtsheer, Chris" userId="a81a26ba-eb45-4e75-9bfd-3b02b6213fd4" providerId="ADAL" clId="{CA0FDD11-0EF5-4A04-9CB0-6A9B178EB57F}" dt="2026-04-14T07:39:41.241" v="1255" actId="14100"/>
          <ac:cxnSpMkLst>
            <pc:docMk/>
            <pc:sldMk cId="4166023229" sldId="265"/>
            <ac:cxnSpMk id="7" creationId="{C99E2FB3-C2DD-1CD7-B1EE-F612F5E6581E}"/>
          </ac:cxnSpMkLst>
        </pc:cxnChg>
      </pc:sldChg>
      <pc:sldChg chg="modSp add mod">
        <pc:chgData name="Ambagtsheer, Chris" userId="a81a26ba-eb45-4e75-9bfd-3b02b6213fd4" providerId="ADAL" clId="{CA0FDD11-0EF5-4A04-9CB0-6A9B178EB57F}" dt="2026-04-14T07:37:36.133" v="845" actId="1035"/>
        <pc:sldMkLst>
          <pc:docMk/>
          <pc:sldMk cId="2086651991" sldId="266"/>
        </pc:sldMkLst>
        <pc:spChg chg="mod">
          <ac:chgData name="Ambagtsheer, Chris" userId="a81a26ba-eb45-4e75-9bfd-3b02b6213fd4" providerId="ADAL" clId="{CA0FDD11-0EF5-4A04-9CB0-6A9B178EB57F}" dt="2026-04-14T07:37:16.813" v="761" actId="14100"/>
          <ac:spMkLst>
            <pc:docMk/>
            <pc:sldMk cId="2086651991" sldId="266"/>
            <ac:spMk id="3" creationId="{3EDF57F3-F0A0-8CD0-4215-838F2BD3F980}"/>
          </ac:spMkLst>
        </pc:spChg>
        <pc:spChg chg="mod">
          <ac:chgData name="Ambagtsheer, Chris" userId="a81a26ba-eb45-4e75-9bfd-3b02b6213fd4" providerId="ADAL" clId="{CA0FDD11-0EF5-4A04-9CB0-6A9B178EB57F}" dt="2026-04-14T07:37:31.514" v="820" actId="20577"/>
          <ac:spMkLst>
            <pc:docMk/>
            <pc:sldMk cId="2086651991" sldId="266"/>
            <ac:spMk id="5" creationId="{6C21701E-B91D-15FA-CFB3-47C80DC96A07}"/>
          </ac:spMkLst>
        </pc:spChg>
        <pc:cxnChg chg="mod">
          <ac:chgData name="Ambagtsheer, Chris" userId="a81a26ba-eb45-4e75-9bfd-3b02b6213fd4" providerId="ADAL" clId="{CA0FDD11-0EF5-4A04-9CB0-6A9B178EB57F}" dt="2026-04-14T07:37:36.133" v="845" actId="1035"/>
          <ac:cxnSpMkLst>
            <pc:docMk/>
            <pc:sldMk cId="2086651991" sldId="266"/>
            <ac:cxnSpMk id="6" creationId="{DE89E098-F90A-5953-0C82-527D74ACCE6D}"/>
          </ac:cxnSpMkLst>
        </pc:cxnChg>
      </pc:sldChg>
      <pc:sldChg chg="add del">
        <pc:chgData name="Ambagtsheer, Chris" userId="a81a26ba-eb45-4e75-9bfd-3b02b6213fd4" providerId="ADAL" clId="{CA0FDD11-0EF5-4A04-9CB0-6A9B178EB57F}" dt="2026-04-14T07:38:25.779" v="1041"/>
        <pc:sldMkLst>
          <pc:docMk/>
          <pc:sldMk cId="465300201" sldId="267"/>
        </pc:sldMkLst>
      </pc:sldChg>
      <pc:sldChg chg="modSp add mod">
        <pc:chgData name="Ambagtsheer, Chris" userId="a81a26ba-eb45-4e75-9bfd-3b02b6213fd4" providerId="ADAL" clId="{CA0FDD11-0EF5-4A04-9CB0-6A9B178EB57F}" dt="2026-04-14T07:40:02.538" v="1268" actId="1038"/>
        <pc:sldMkLst>
          <pc:docMk/>
          <pc:sldMk cId="897161506" sldId="267"/>
        </pc:sldMkLst>
        <pc:spChg chg="mod">
          <ac:chgData name="Ambagtsheer, Chris" userId="a81a26ba-eb45-4e75-9bfd-3b02b6213fd4" providerId="ADAL" clId="{CA0FDD11-0EF5-4A04-9CB0-6A9B178EB57F}" dt="2026-04-14T07:39:59.462" v="1258" actId="14100"/>
          <ac:spMkLst>
            <pc:docMk/>
            <pc:sldMk cId="897161506" sldId="267"/>
            <ac:spMk id="5" creationId="{C62258B2-BC98-FF69-A4EC-56E85EC331A4}"/>
          </ac:spMkLst>
        </pc:spChg>
        <pc:spChg chg="mod">
          <ac:chgData name="Ambagtsheer, Chris" userId="a81a26ba-eb45-4e75-9bfd-3b02b6213fd4" providerId="ADAL" clId="{CA0FDD11-0EF5-4A04-9CB0-6A9B178EB57F}" dt="2026-04-14T07:39:28.331" v="1253" actId="14100"/>
          <ac:spMkLst>
            <pc:docMk/>
            <pc:sldMk cId="897161506" sldId="267"/>
            <ac:spMk id="6" creationId="{BE0356A5-7569-3635-F2EC-2F55146BA4E3}"/>
          </ac:spMkLst>
        </pc:spChg>
        <pc:cxnChg chg="mod">
          <ac:chgData name="Ambagtsheer, Chris" userId="a81a26ba-eb45-4e75-9bfd-3b02b6213fd4" providerId="ADAL" clId="{CA0FDD11-0EF5-4A04-9CB0-6A9B178EB57F}" dt="2026-04-14T07:40:02.538" v="1268" actId="1038"/>
          <ac:cxnSpMkLst>
            <pc:docMk/>
            <pc:sldMk cId="897161506" sldId="267"/>
            <ac:cxnSpMk id="7" creationId="{FB268036-9CE0-4612-D237-FE4278555177}"/>
          </ac:cxnSpMkLst>
        </pc:cxnChg>
      </pc:sldChg>
      <pc:sldChg chg="modSp add mod">
        <pc:chgData name="Ambagtsheer, Chris" userId="a81a26ba-eb45-4e75-9bfd-3b02b6213fd4" providerId="ADAL" clId="{CA0FDD11-0EF5-4A04-9CB0-6A9B178EB57F}" dt="2026-04-14T07:40:51.737" v="1396" actId="14100"/>
        <pc:sldMkLst>
          <pc:docMk/>
          <pc:sldMk cId="2062104235" sldId="268"/>
        </pc:sldMkLst>
        <pc:spChg chg="mod">
          <ac:chgData name="Ambagtsheer, Chris" userId="a81a26ba-eb45-4e75-9bfd-3b02b6213fd4" providerId="ADAL" clId="{CA0FDD11-0EF5-4A04-9CB0-6A9B178EB57F}" dt="2026-04-14T07:40:44.858" v="1394" actId="14100"/>
          <ac:spMkLst>
            <pc:docMk/>
            <pc:sldMk cId="2062104235" sldId="268"/>
            <ac:spMk id="5" creationId="{B525FC37-59EF-3ADA-9032-3BF07A1D4A9E}"/>
          </ac:spMkLst>
        </pc:spChg>
        <pc:spChg chg="mod">
          <ac:chgData name="Ambagtsheer, Chris" userId="a81a26ba-eb45-4e75-9bfd-3b02b6213fd4" providerId="ADAL" clId="{CA0FDD11-0EF5-4A04-9CB0-6A9B178EB57F}" dt="2026-04-14T07:40:25.020" v="1362" actId="20577"/>
          <ac:spMkLst>
            <pc:docMk/>
            <pc:sldMk cId="2062104235" sldId="268"/>
            <ac:spMk id="6" creationId="{E4959C6A-412A-3AD8-9C81-8D1E16BEB688}"/>
          </ac:spMkLst>
        </pc:spChg>
        <pc:cxnChg chg="mod">
          <ac:chgData name="Ambagtsheer, Chris" userId="a81a26ba-eb45-4e75-9bfd-3b02b6213fd4" providerId="ADAL" clId="{CA0FDD11-0EF5-4A04-9CB0-6A9B178EB57F}" dt="2026-04-14T07:40:51.737" v="1396" actId="14100"/>
          <ac:cxnSpMkLst>
            <pc:docMk/>
            <pc:sldMk cId="2062104235" sldId="268"/>
            <ac:cxnSpMk id="7" creationId="{76AAC6F0-2687-2F35-C542-57D0BDD4A11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518724-F55D-4A8D-8B05-D2B74C4D26F6}" type="datetimeFigureOut">
              <a:rPr lang="en-NL" smtClean="0"/>
              <a:t>14/04/2026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DA97BD-5AA9-43A7-A255-277DB495F1E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39961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A97BD-5AA9-43A7-A255-277DB495F1E8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06547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7E5DD-C3EA-2509-C5AB-16B80A41B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56AA5-C5DC-ADC9-C27A-97BC4C190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8F91F-DCC2-3F5C-0968-8960AA0A4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E64-304A-44A2-81B2-C09914CB45CB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B2619-FDA3-9763-C443-AE1B62F9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DFA17-323E-2F27-149A-0A9C384B3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D168D-7D24-4E07-AF98-F21CD8DAC31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66138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250EF-CB04-9094-9049-D9FB85E9C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A4D9C-C7CE-EAF4-8EA3-C4C155DB7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485B-8E1D-1EAA-F4C4-DC763D192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E64-304A-44A2-81B2-C09914CB45CB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DF72D-60F5-3150-4ED3-47D178F5C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F9AAC-2212-21CE-9BC7-623A7DE7C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D168D-7D24-4E07-AF98-F21CD8DAC31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899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5DC1A-85C4-645E-825D-01FD5D503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5FCE1-764A-8BDB-611F-6A6818D17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5B603-5DBA-1669-5FB6-F5590D2AC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E64-304A-44A2-81B2-C09914CB45CB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F62E6-93C9-A155-701C-1D968D91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EFCBC-9A0C-344C-93D8-32AB8050E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D168D-7D24-4E07-AF98-F21CD8DAC31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28905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37E3-A83A-7EBA-D1BA-19D28B660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62E85-232C-38B9-3511-A179939D44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9B7A5E-104E-ADD3-7A78-D2F67EA11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4FFF2-E3FC-E121-C6AB-08C6DEC66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E64-304A-44A2-81B2-C09914CB45CB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6703D-2DBA-94A7-8112-EDBF6BCF6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C9713-C25C-1075-C0FE-E87939D7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D168D-7D24-4E07-AF98-F21CD8DAC31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2664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E1669-90F5-8F41-8F58-FE4CEFCC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CA9F6-7775-AAF6-FA93-046B7F5B3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8BA52-96EC-45D9-5649-39BE13FA7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86BCB6-F645-5979-1960-3EE0B2EBA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AFBE75-07A0-02DF-91BF-3A86125AFF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250EEE-A7F0-B933-1026-B12075D15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E64-304A-44A2-81B2-C09914CB45CB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21F9DA-45DA-B1E5-BA09-FF334F4F5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0220FE-5A99-E79E-2BEA-31620E2A5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D168D-7D24-4E07-AF98-F21CD8DAC31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09850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AF32E-FCBD-894E-2F8C-D27F3ED1A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87CFF2-07E5-F7D8-DF24-863B8B20A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E64-304A-44A2-81B2-C09914CB45CB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1FABE6-222F-A997-A58E-F42724C8C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3B0C8-DE2F-95D6-22B9-67C24E17B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D168D-7D24-4E07-AF98-F21CD8DAC31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57092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4177A1-C90B-9086-0D8B-9DB1FE41D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E64-304A-44A2-81B2-C09914CB45CB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EAE2D5-BCFD-CEA1-6BA5-684BE219E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261F2-5A48-8162-4FA1-E4B16160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D168D-7D24-4E07-AF98-F21CD8DAC31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50676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B2A55-4E92-7481-3D39-EDD91FB48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D391E-2789-4D0A-723C-F5387E8A8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25E3F-1B65-3F18-3796-4B3631616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12DCD-E07C-3317-FD27-D5EF3FBB9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E64-304A-44A2-81B2-C09914CB45CB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E64D3-F5F0-3285-70AC-AC2EF7211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08C7F-EE44-DA37-BE09-1CF9E0C3A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D168D-7D24-4E07-AF98-F21CD8DAC31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6976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158AF-0D45-E5C0-3653-0494C60CC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54061C-4266-D798-8531-4E7F3C5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8DC0D-772D-D5F0-35FB-3DAFE0386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600BA-0F95-1F00-239B-29C82BD05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E64-304A-44A2-81B2-C09914CB45CB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109AE-315C-6E37-5A44-60AE90DEC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F1F70-392F-22D6-7B5A-1E3658ACD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D168D-7D24-4E07-AF98-F21CD8DAC31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73885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C32E2-1044-B4E3-A469-AF075F60B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E286C-BF25-368A-CD98-E29127A7C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50B89-8E2B-E3DA-26AC-057C55AA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E64-304A-44A2-81B2-C09914CB45CB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7E0CC-F2BA-D61D-BDCC-AF99E0276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7CA98-19F6-493D-1A4C-B04C7CB94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D168D-7D24-4E07-AF98-F21CD8DAC31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97773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1CA126-7D91-8E38-4CF7-69DBD9812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DDE3CE-A9AB-31EC-C104-813CD06E9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36283-1AC5-EEF7-776F-8F16319BF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99E64-304A-44A2-81B2-C09914CB45CB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D1C93-9161-6A40-EB34-03B412880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6BE97-6ABE-07C1-2E65-E66721F3E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D168D-7D24-4E07-AF98-F21CD8DAC31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4288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FD12CB-9C32-37EC-E5B9-ADD35A800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4214D-A85A-9C55-A212-C25994AC8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AE43C-8264-5D93-CBAC-8E0DF873F0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A99E64-304A-44A2-81B2-C09914CB45CB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BE3EF-02F0-7FAD-A511-44D143806A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114A4-23D6-023C-8473-6212CA579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BD168D-7D24-4E07-AF98-F21CD8DAC31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25595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.svg"/><Relationship Id="rId7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B741C-9745-B03C-2F3D-ABDB5A87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68A3C6-BB8B-FA86-8215-518FE741D437}"/>
              </a:ext>
            </a:extLst>
          </p:cNvPr>
          <p:cNvSpPr>
            <a:spLocks noChangeAspect="1"/>
          </p:cNvSpPr>
          <p:nvPr/>
        </p:nvSpPr>
        <p:spPr>
          <a:xfrm>
            <a:off x="1776000" y="549000"/>
            <a:ext cx="8640000" cy="57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893F4-97DD-C175-7DFD-02C74CEE0254}"/>
              </a:ext>
            </a:extLst>
          </p:cNvPr>
          <p:cNvSpPr txBox="1"/>
          <p:nvPr/>
        </p:nvSpPr>
        <p:spPr>
          <a:xfrm>
            <a:off x="2495006" y="698863"/>
            <a:ext cx="269798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EzBLAST</a:t>
            </a:r>
            <a:endParaRPr lang="en-GB" sz="4400" b="1" dirty="0">
              <a:solidFill>
                <a:schemeClr val="accent6">
                  <a:lumMod val="50000"/>
                </a:schemeClr>
              </a:solidFill>
              <a:latin typeface="+mj-lt"/>
            </a:endParaRPr>
          </a:p>
          <a:p>
            <a:r>
              <a:rPr lang="en-GB" sz="1600" i="1" dirty="0">
                <a:latin typeface="+mj-lt"/>
              </a:rPr>
              <a:t>Welcome. Select a tool to use:</a:t>
            </a:r>
            <a:endParaRPr lang="en-GB" sz="1600" i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3A5B9B-3988-197A-3D05-C55A4DDCFFFA}"/>
              </a:ext>
            </a:extLst>
          </p:cNvPr>
          <p:cNvCxnSpPr>
            <a:cxnSpLocks/>
          </p:cNvCxnSpPr>
          <p:nvPr/>
        </p:nvCxnSpPr>
        <p:spPr>
          <a:xfrm>
            <a:off x="2496000" y="1805606"/>
            <a:ext cx="72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7D1A7E-C706-3427-4A77-B615B0297704}"/>
              </a:ext>
            </a:extLst>
          </p:cNvPr>
          <p:cNvSpPr/>
          <p:nvPr/>
        </p:nvSpPr>
        <p:spPr>
          <a:xfrm>
            <a:off x="2503891" y="2427301"/>
            <a:ext cx="1908000" cy="648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BLASTP</a:t>
            </a:r>
            <a:endParaRPr lang="en-NL" b="1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0CF08C6-4180-C076-294A-807067B92C33}"/>
              </a:ext>
            </a:extLst>
          </p:cNvPr>
          <p:cNvSpPr/>
          <p:nvPr/>
        </p:nvSpPr>
        <p:spPr>
          <a:xfrm>
            <a:off x="2503891" y="5108414"/>
            <a:ext cx="1908000" cy="648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File statistics</a:t>
            </a:r>
            <a:endParaRPr lang="en-NL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B2CDDA-4FC6-95CC-6E3B-C22088EDEF3E}"/>
              </a:ext>
            </a:extLst>
          </p:cNvPr>
          <p:cNvSpPr txBox="1"/>
          <p:nvPr/>
        </p:nvSpPr>
        <p:spPr>
          <a:xfrm>
            <a:off x="2475411" y="1973368"/>
            <a:ext cx="3265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Run a protein sequence alignment: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B30F93-430C-B975-3B81-2806F6C931DD}"/>
              </a:ext>
            </a:extLst>
          </p:cNvPr>
          <p:cNvSpPr txBox="1"/>
          <p:nvPr/>
        </p:nvSpPr>
        <p:spPr>
          <a:xfrm>
            <a:off x="2421246" y="4669240"/>
            <a:ext cx="3265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Run a protein sequence alignment: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3EB843-E525-8815-C7AD-50F8A4D837DA}"/>
              </a:ext>
            </a:extLst>
          </p:cNvPr>
          <p:cNvSpPr/>
          <p:nvPr/>
        </p:nvSpPr>
        <p:spPr>
          <a:xfrm>
            <a:off x="2503891" y="3736746"/>
            <a:ext cx="1908000" cy="648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BLASTN</a:t>
            </a:r>
            <a:endParaRPr lang="en-NL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BEB04F-9FAD-4DF1-61E3-870CABCAC52F}"/>
              </a:ext>
            </a:extLst>
          </p:cNvPr>
          <p:cNvSpPr txBox="1"/>
          <p:nvPr/>
        </p:nvSpPr>
        <p:spPr>
          <a:xfrm>
            <a:off x="2484296" y="3321304"/>
            <a:ext cx="3583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Run a nucleotide sequence alignment: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3BC253-30FD-DFC8-37C1-79D409093CCC}"/>
              </a:ext>
            </a:extLst>
          </p:cNvPr>
          <p:cNvCxnSpPr>
            <a:cxnSpLocks/>
          </p:cNvCxnSpPr>
          <p:nvPr/>
        </p:nvCxnSpPr>
        <p:spPr>
          <a:xfrm flipV="1">
            <a:off x="6096000" y="1805606"/>
            <a:ext cx="0" cy="40661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3365BE7-CDFF-A47C-3CDB-2F8DE857114E}"/>
              </a:ext>
            </a:extLst>
          </p:cNvPr>
          <p:cNvSpPr txBox="1"/>
          <p:nvPr/>
        </p:nvSpPr>
        <p:spPr>
          <a:xfrm>
            <a:off x="6402686" y="1973368"/>
            <a:ext cx="29619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Create output statistics figures: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CDDE9-362C-CB26-8F5A-D6F410F7A392}"/>
              </a:ext>
            </a:extLst>
          </p:cNvPr>
          <p:cNvSpPr txBox="1"/>
          <p:nvPr/>
        </p:nvSpPr>
        <p:spPr>
          <a:xfrm>
            <a:off x="6402686" y="4669240"/>
            <a:ext cx="23062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Filter and export output: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B7001F-8789-84E1-D1A6-A078626D45E8}"/>
              </a:ext>
            </a:extLst>
          </p:cNvPr>
          <p:cNvSpPr txBox="1"/>
          <p:nvPr/>
        </p:nvSpPr>
        <p:spPr>
          <a:xfrm>
            <a:off x="6402686" y="3321304"/>
            <a:ext cx="28634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Get advice for future research:</a:t>
            </a:r>
          </a:p>
        </p:txBody>
      </p:sp>
      <p:pic>
        <p:nvPicPr>
          <p:cNvPr id="26" name="Graphic 25" descr="Server outline">
            <a:extLst>
              <a:ext uri="{FF2B5EF4-FFF2-40B4-BE49-F238E27FC236}">
                <a16:creationId xmlns:a16="http://schemas.microsoft.com/office/drawing/2014/main" id="{0EBACC9A-8C22-2270-0467-BE32AEB4A4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5276" y="2404002"/>
            <a:ext cx="720000" cy="720000"/>
          </a:xfrm>
          <a:prstGeom prst="rect">
            <a:avLst/>
          </a:prstGeom>
        </p:spPr>
      </p:pic>
      <p:pic>
        <p:nvPicPr>
          <p:cNvPr id="34" name="Graphic 33" descr="Images with solid fill">
            <a:extLst>
              <a:ext uri="{FF2B5EF4-FFF2-40B4-BE49-F238E27FC236}">
                <a16:creationId xmlns:a16="http://schemas.microsoft.com/office/drawing/2014/main" id="{78E8AAF7-318C-98BC-FAA5-3B013D4920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4400" y="3740657"/>
            <a:ext cx="720000" cy="720000"/>
          </a:xfrm>
          <a:prstGeom prst="rect">
            <a:avLst/>
          </a:prstGeom>
        </p:spPr>
      </p:pic>
      <p:pic>
        <p:nvPicPr>
          <p:cNvPr id="36" name="Graphic 35" descr="Download from cloud with solid fill">
            <a:extLst>
              <a:ext uri="{FF2B5EF4-FFF2-40B4-BE49-F238E27FC236}">
                <a16:creationId xmlns:a16="http://schemas.microsoft.com/office/drawing/2014/main" id="{AC06F554-1A7F-CA94-8353-0744DE3A42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1756" y="5061817"/>
            <a:ext cx="720000" cy="720000"/>
          </a:xfrm>
          <a:prstGeom prst="rect">
            <a:avLst/>
          </a:prstGeom>
        </p:spPr>
      </p:pic>
      <p:pic>
        <p:nvPicPr>
          <p:cNvPr id="38" name="Graphic 37" descr="Teacher outline">
            <a:extLst>
              <a:ext uri="{FF2B5EF4-FFF2-40B4-BE49-F238E27FC236}">
                <a16:creationId xmlns:a16="http://schemas.microsoft.com/office/drawing/2014/main" id="{AFFED4E0-187A-B01D-9B10-8FE5DFF8EA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1401" y="2404002"/>
            <a:ext cx="720000" cy="720000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2081432-6C49-1B9E-492D-75D18117B6B7}"/>
              </a:ext>
            </a:extLst>
          </p:cNvPr>
          <p:cNvSpPr/>
          <p:nvPr/>
        </p:nvSpPr>
        <p:spPr>
          <a:xfrm>
            <a:off x="7781744" y="2427301"/>
            <a:ext cx="1908000" cy="6480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Create images</a:t>
            </a:r>
            <a:endParaRPr lang="en-NL" b="1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F6F0A48-1D3A-A98B-8C1F-2F7968E0830A}"/>
              </a:ext>
            </a:extLst>
          </p:cNvPr>
          <p:cNvSpPr/>
          <p:nvPr/>
        </p:nvSpPr>
        <p:spPr>
          <a:xfrm>
            <a:off x="7781745" y="5108414"/>
            <a:ext cx="1908000" cy="648000"/>
          </a:xfrm>
          <a:prstGeom prst="roundRect">
            <a:avLst/>
          </a:prstGeom>
          <a:solidFill>
            <a:srgbClr val="F8F58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Select &amp; export</a:t>
            </a:r>
            <a:endParaRPr lang="en-NL" b="1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EBAD7E3-B5A7-4DB4-EE13-77B34DFE98ED}"/>
              </a:ext>
            </a:extLst>
          </p:cNvPr>
          <p:cNvSpPr/>
          <p:nvPr/>
        </p:nvSpPr>
        <p:spPr>
          <a:xfrm>
            <a:off x="7781744" y="3736746"/>
            <a:ext cx="1908000" cy="648000"/>
          </a:xfrm>
          <a:prstGeom prst="roundRect">
            <a:avLst/>
          </a:prstGeom>
          <a:solidFill>
            <a:srgbClr val="F05299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Get advice</a:t>
            </a:r>
            <a:endParaRPr lang="en-NL" b="1" dirty="0">
              <a:solidFill>
                <a:schemeClr val="tx1"/>
              </a:solidFill>
            </a:endParaRPr>
          </a:p>
        </p:txBody>
      </p:sp>
      <p:pic>
        <p:nvPicPr>
          <p:cNvPr id="2" name="Graphic 1" descr="Upload with solid fill">
            <a:extLst>
              <a:ext uri="{FF2B5EF4-FFF2-40B4-BE49-F238E27FC236}">
                <a16:creationId xmlns:a16="http://schemas.microsoft.com/office/drawing/2014/main" id="{E27C5789-5FA4-C2AE-9D9C-F77447520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34701" y="5061817"/>
            <a:ext cx="720000" cy="720000"/>
          </a:xfrm>
          <a:prstGeom prst="rect">
            <a:avLst/>
          </a:prstGeom>
        </p:spPr>
      </p:pic>
      <p:pic>
        <p:nvPicPr>
          <p:cNvPr id="3" name="Graphic 2" descr="Muscular arm with solid fill">
            <a:extLst>
              <a:ext uri="{FF2B5EF4-FFF2-40B4-BE49-F238E27FC236}">
                <a16:creationId xmlns:a16="http://schemas.microsoft.com/office/drawing/2014/main" id="{9660B425-C895-0031-2391-F182139B49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34701" y="2404002"/>
            <a:ext cx="720000" cy="720000"/>
          </a:xfrm>
          <a:prstGeom prst="rect">
            <a:avLst/>
          </a:prstGeom>
        </p:spPr>
      </p:pic>
      <p:pic>
        <p:nvPicPr>
          <p:cNvPr id="6" name="Graphic 5" descr="DNA with solid fill">
            <a:extLst>
              <a:ext uri="{FF2B5EF4-FFF2-40B4-BE49-F238E27FC236}">
                <a16:creationId xmlns:a16="http://schemas.microsoft.com/office/drawing/2014/main" id="{85A282D8-E617-A2E9-1546-7534196F5D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700000">
            <a:off x="5134701" y="3740657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432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3B33B-4EDE-342F-BC51-2A537660A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852251-960E-F09E-AE99-C913079AF7E2}"/>
              </a:ext>
            </a:extLst>
          </p:cNvPr>
          <p:cNvSpPr>
            <a:spLocks noChangeAspect="1"/>
          </p:cNvSpPr>
          <p:nvPr/>
        </p:nvSpPr>
        <p:spPr>
          <a:xfrm>
            <a:off x="1776000" y="549000"/>
            <a:ext cx="8640000" cy="57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2F5E89-C53D-8181-B042-9ADE3160F9E7}"/>
              </a:ext>
            </a:extLst>
          </p:cNvPr>
          <p:cNvSpPr txBox="1"/>
          <p:nvPr/>
        </p:nvSpPr>
        <p:spPr>
          <a:xfrm>
            <a:off x="2495006" y="698863"/>
            <a:ext cx="269798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EzBLAST</a:t>
            </a:r>
            <a:endParaRPr lang="en-GB" sz="4400" b="1" dirty="0">
              <a:solidFill>
                <a:schemeClr val="accent6">
                  <a:lumMod val="50000"/>
                </a:schemeClr>
              </a:solidFill>
              <a:latin typeface="+mj-lt"/>
            </a:endParaRPr>
          </a:p>
          <a:p>
            <a:r>
              <a:rPr lang="en-GB" sz="1600" i="1" dirty="0">
                <a:latin typeface="+mj-lt"/>
              </a:rPr>
              <a:t>Welcome. Select a tool to use:</a:t>
            </a:r>
            <a:endParaRPr lang="en-GB" sz="1600" i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81F10B6-2200-A771-6E3B-2F1C9DCB3036}"/>
              </a:ext>
            </a:extLst>
          </p:cNvPr>
          <p:cNvCxnSpPr>
            <a:cxnSpLocks/>
          </p:cNvCxnSpPr>
          <p:nvPr/>
        </p:nvCxnSpPr>
        <p:spPr>
          <a:xfrm>
            <a:off x="2496000" y="1805606"/>
            <a:ext cx="72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958AB9-1705-AEC4-BA77-9E559966560A}"/>
              </a:ext>
            </a:extLst>
          </p:cNvPr>
          <p:cNvSpPr/>
          <p:nvPr/>
        </p:nvSpPr>
        <p:spPr>
          <a:xfrm>
            <a:off x="2503891" y="2427301"/>
            <a:ext cx="1908000" cy="648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BLASTP</a:t>
            </a:r>
            <a:endParaRPr lang="en-NL" b="1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1814A5-F693-46E2-D6E7-E647053FA3A5}"/>
              </a:ext>
            </a:extLst>
          </p:cNvPr>
          <p:cNvSpPr/>
          <p:nvPr/>
        </p:nvSpPr>
        <p:spPr>
          <a:xfrm>
            <a:off x="2503891" y="5108414"/>
            <a:ext cx="1908000" cy="648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File statistics</a:t>
            </a:r>
            <a:endParaRPr lang="en-NL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DED29D-9BA2-F04B-FBEA-6D352DF1CB38}"/>
              </a:ext>
            </a:extLst>
          </p:cNvPr>
          <p:cNvSpPr txBox="1"/>
          <p:nvPr/>
        </p:nvSpPr>
        <p:spPr>
          <a:xfrm>
            <a:off x="2475411" y="1973368"/>
            <a:ext cx="3265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Run a protein sequence alignment: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8500BB-2352-65BE-665A-82FE8829C0DD}"/>
              </a:ext>
            </a:extLst>
          </p:cNvPr>
          <p:cNvSpPr txBox="1"/>
          <p:nvPr/>
        </p:nvSpPr>
        <p:spPr>
          <a:xfrm>
            <a:off x="2421246" y="4669240"/>
            <a:ext cx="3265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Run a protein sequence alignment: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009354C-4226-084F-C057-235DF7EB4061}"/>
              </a:ext>
            </a:extLst>
          </p:cNvPr>
          <p:cNvSpPr/>
          <p:nvPr/>
        </p:nvSpPr>
        <p:spPr>
          <a:xfrm>
            <a:off x="2503891" y="3736746"/>
            <a:ext cx="1908000" cy="648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BLASTN</a:t>
            </a:r>
            <a:endParaRPr lang="en-NL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6DF471-664F-B45F-0356-CFD14CB4EBA0}"/>
              </a:ext>
            </a:extLst>
          </p:cNvPr>
          <p:cNvSpPr txBox="1"/>
          <p:nvPr/>
        </p:nvSpPr>
        <p:spPr>
          <a:xfrm>
            <a:off x="2484296" y="3321304"/>
            <a:ext cx="3583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Run a nucleotide sequence alignment: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E3E2FE-6DD0-BB30-39EA-1DD3DE431B62}"/>
              </a:ext>
            </a:extLst>
          </p:cNvPr>
          <p:cNvSpPr txBox="1"/>
          <p:nvPr/>
        </p:nvSpPr>
        <p:spPr>
          <a:xfrm>
            <a:off x="6402686" y="1973368"/>
            <a:ext cx="29619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Create output statistics figures: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7AFE62-C253-B6CD-BA9B-7F395800C19A}"/>
              </a:ext>
            </a:extLst>
          </p:cNvPr>
          <p:cNvSpPr txBox="1"/>
          <p:nvPr/>
        </p:nvSpPr>
        <p:spPr>
          <a:xfrm>
            <a:off x="6402686" y="4669240"/>
            <a:ext cx="23062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Filter and export output: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0DC778-1A2A-1CFE-7B56-8DA6457577A7}"/>
              </a:ext>
            </a:extLst>
          </p:cNvPr>
          <p:cNvSpPr txBox="1"/>
          <p:nvPr/>
        </p:nvSpPr>
        <p:spPr>
          <a:xfrm>
            <a:off x="6402686" y="3321304"/>
            <a:ext cx="28634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Get advice for future research:</a:t>
            </a:r>
          </a:p>
        </p:txBody>
      </p:sp>
      <p:pic>
        <p:nvPicPr>
          <p:cNvPr id="26" name="Graphic 25" descr="Server outline">
            <a:extLst>
              <a:ext uri="{FF2B5EF4-FFF2-40B4-BE49-F238E27FC236}">
                <a16:creationId xmlns:a16="http://schemas.microsoft.com/office/drawing/2014/main" id="{6C39AB0C-8294-A31D-094C-96CD071463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5276" y="2404002"/>
            <a:ext cx="720000" cy="720000"/>
          </a:xfrm>
          <a:prstGeom prst="rect">
            <a:avLst/>
          </a:prstGeom>
        </p:spPr>
      </p:pic>
      <p:pic>
        <p:nvPicPr>
          <p:cNvPr id="34" name="Graphic 33" descr="Images with solid fill">
            <a:extLst>
              <a:ext uri="{FF2B5EF4-FFF2-40B4-BE49-F238E27FC236}">
                <a16:creationId xmlns:a16="http://schemas.microsoft.com/office/drawing/2014/main" id="{BD7C7B69-D389-41EF-5C77-9F7997E3F5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4400" y="3740657"/>
            <a:ext cx="720000" cy="720000"/>
          </a:xfrm>
          <a:prstGeom prst="rect">
            <a:avLst/>
          </a:prstGeom>
        </p:spPr>
      </p:pic>
      <p:pic>
        <p:nvPicPr>
          <p:cNvPr id="36" name="Graphic 35" descr="Download from cloud with solid fill">
            <a:extLst>
              <a:ext uri="{FF2B5EF4-FFF2-40B4-BE49-F238E27FC236}">
                <a16:creationId xmlns:a16="http://schemas.microsoft.com/office/drawing/2014/main" id="{F7FA27CD-00FD-88B1-06C4-290025140B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1756" y="5061817"/>
            <a:ext cx="720000" cy="720000"/>
          </a:xfrm>
          <a:prstGeom prst="rect">
            <a:avLst/>
          </a:prstGeom>
        </p:spPr>
      </p:pic>
      <p:pic>
        <p:nvPicPr>
          <p:cNvPr id="38" name="Graphic 37" descr="Teacher outline">
            <a:extLst>
              <a:ext uri="{FF2B5EF4-FFF2-40B4-BE49-F238E27FC236}">
                <a16:creationId xmlns:a16="http://schemas.microsoft.com/office/drawing/2014/main" id="{F5BD55D9-1E69-94CD-A697-8F766421CA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1401" y="2404002"/>
            <a:ext cx="720000" cy="720000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DDA5939-4F5F-CB1D-E395-E37FF572A88A}"/>
              </a:ext>
            </a:extLst>
          </p:cNvPr>
          <p:cNvSpPr/>
          <p:nvPr/>
        </p:nvSpPr>
        <p:spPr>
          <a:xfrm>
            <a:off x="7781744" y="2427301"/>
            <a:ext cx="1908000" cy="6480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Create images</a:t>
            </a:r>
            <a:endParaRPr lang="en-NL" b="1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5A8FB19-0F3A-455C-426A-B1C6FE727591}"/>
              </a:ext>
            </a:extLst>
          </p:cNvPr>
          <p:cNvSpPr/>
          <p:nvPr/>
        </p:nvSpPr>
        <p:spPr>
          <a:xfrm>
            <a:off x="7781745" y="5108414"/>
            <a:ext cx="1908000" cy="648000"/>
          </a:xfrm>
          <a:prstGeom prst="roundRect">
            <a:avLst/>
          </a:prstGeom>
          <a:solidFill>
            <a:srgbClr val="F8F58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Select &amp; export</a:t>
            </a:r>
            <a:endParaRPr lang="en-NL" b="1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2F82E03-3746-7A80-1B68-B55A86207EA9}"/>
              </a:ext>
            </a:extLst>
          </p:cNvPr>
          <p:cNvSpPr/>
          <p:nvPr/>
        </p:nvSpPr>
        <p:spPr>
          <a:xfrm>
            <a:off x="7781744" y="3736746"/>
            <a:ext cx="1908000" cy="648000"/>
          </a:xfrm>
          <a:prstGeom prst="roundRect">
            <a:avLst/>
          </a:prstGeom>
          <a:solidFill>
            <a:srgbClr val="F05299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Get advice</a:t>
            </a:r>
            <a:endParaRPr lang="en-NL" b="1" dirty="0">
              <a:solidFill>
                <a:schemeClr val="tx1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4EC7866-EDA5-D170-10D6-6754EED51301}"/>
              </a:ext>
            </a:extLst>
          </p:cNvPr>
          <p:cNvGrpSpPr/>
          <p:nvPr/>
        </p:nvGrpSpPr>
        <p:grpSpPr>
          <a:xfrm>
            <a:off x="197484" y="1805606"/>
            <a:ext cx="5898516" cy="4148119"/>
            <a:chOff x="197484" y="1805606"/>
            <a:chExt cx="5898516" cy="4148119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F9495F2-B74C-E6E1-D4CC-26B365AFC1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1805606"/>
              <a:ext cx="0" cy="406614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E5697D6-CDAA-56B4-E15A-3BB8E5B22614}"/>
                </a:ext>
              </a:extLst>
            </p:cNvPr>
            <p:cNvSpPr/>
            <p:nvPr/>
          </p:nvSpPr>
          <p:spPr>
            <a:xfrm>
              <a:off x="2344784" y="1887582"/>
              <a:ext cx="3642261" cy="4066143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51E9BAD-A69F-1B22-4AAD-C85ACD7B148A}"/>
                </a:ext>
              </a:extLst>
            </p:cNvPr>
            <p:cNvSpPr/>
            <p:nvPr/>
          </p:nvSpPr>
          <p:spPr>
            <a:xfrm>
              <a:off x="197484" y="1887581"/>
              <a:ext cx="1780724" cy="4066143"/>
            </a:xfrm>
            <a:prstGeom prst="rect">
              <a:avLst/>
            </a:prstGeom>
            <a:solidFill>
              <a:srgbClr val="C00000"/>
            </a:solidFill>
            <a:ln w="571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Tools that take a file (input from the user. An BLAST algorithm will be run to create an output</a:t>
              </a:r>
              <a:endParaRPr lang="en-NL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75DCC10-B1FF-121F-8466-55155BE583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5338" y="3951614"/>
              <a:ext cx="36000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Graphic 18" descr="Upload with solid fill">
            <a:extLst>
              <a:ext uri="{FF2B5EF4-FFF2-40B4-BE49-F238E27FC236}">
                <a16:creationId xmlns:a16="http://schemas.microsoft.com/office/drawing/2014/main" id="{1BAB5F83-6E1E-C40F-E677-112265331C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34701" y="5061817"/>
            <a:ext cx="720000" cy="720000"/>
          </a:xfrm>
          <a:prstGeom prst="rect">
            <a:avLst/>
          </a:prstGeom>
        </p:spPr>
      </p:pic>
      <p:pic>
        <p:nvPicPr>
          <p:cNvPr id="23" name="Graphic 22" descr="Muscular arm with solid fill">
            <a:extLst>
              <a:ext uri="{FF2B5EF4-FFF2-40B4-BE49-F238E27FC236}">
                <a16:creationId xmlns:a16="http://schemas.microsoft.com/office/drawing/2014/main" id="{7BCB5277-3D6C-F903-DE25-6572DB963F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34701" y="2404002"/>
            <a:ext cx="720000" cy="720000"/>
          </a:xfrm>
          <a:prstGeom prst="rect">
            <a:avLst/>
          </a:prstGeom>
        </p:spPr>
      </p:pic>
      <p:pic>
        <p:nvPicPr>
          <p:cNvPr id="25" name="Graphic 24" descr="DNA with solid fill">
            <a:extLst>
              <a:ext uri="{FF2B5EF4-FFF2-40B4-BE49-F238E27FC236}">
                <a16:creationId xmlns:a16="http://schemas.microsoft.com/office/drawing/2014/main" id="{C2A6EC58-17ED-4445-4AB7-F440E5D19F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700000">
            <a:off x="5134701" y="3740657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953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4E647-F97D-C21A-D0C5-F627E52D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D93B5C-18E6-0F15-3E4C-B6EE70838980}"/>
              </a:ext>
            </a:extLst>
          </p:cNvPr>
          <p:cNvSpPr>
            <a:spLocks noChangeAspect="1"/>
          </p:cNvSpPr>
          <p:nvPr/>
        </p:nvSpPr>
        <p:spPr>
          <a:xfrm>
            <a:off x="1776000" y="549000"/>
            <a:ext cx="8640000" cy="57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DBB935-D335-75AD-C21D-2CF30054B0AF}"/>
              </a:ext>
            </a:extLst>
          </p:cNvPr>
          <p:cNvSpPr txBox="1"/>
          <p:nvPr/>
        </p:nvSpPr>
        <p:spPr>
          <a:xfrm>
            <a:off x="2495006" y="698863"/>
            <a:ext cx="269798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EzBLAST</a:t>
            </a:r>
            <a:endParaRPr lang="en-GB" sz="4400" b="1" dirty="0">
              <a:solidFill>
                <a:schemeClr val="accent6">
                  <a:lumMod val="50000"/>
                </a:schemeClr>
              </a:solidFill>
              <a:latin typeface="+mj-lt"/>
            </a:endParaRPr>
          </a:p>
          <a:p>
            <a:r>
              <a:rPr lang="en-GB" sz="1600" i="1" dirty="0">
                <a:latin typeface="+mj-lt"/>
              </a:rPr>
              <a:t>Welcome. Select a tool to use:</a:t>
            </a:r>
            <a:endParaRPr lang="en-GB" sz="1600" i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CB5BC3-D193-9397-4522-B7242AC55CD6}"/>
              </a:ext>
            </a:extLst>
          </p:cNvPr>
          <p:cNvCxnSpPr>
            <a:cxnSpLocks/>
          </p:cNvCxnSpPr>
          <p:nvPr/>
        </p:nvCxnSpPr>
        <p:spPr>
          <a:xfrm>
            <a:off x="2496000" y="1805606"/>
            <a:ext cx="72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2DBAB17-254C-0C63-DB4B-D481325F2E5A}"/>
              </a:ext>
            </a:extLst>
          </p:cNvPr>
          <p:cNvSpPr/>
          <p:nvPr/>
        </p:nvSpPr>
        <p:spPr>
          <a:xfrm>
            <a:off x="2503891" y="2427301"/>
            <a:ext cx="1908000" cy="648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BLASTP</a:t>
            </a:r>
            <a:endParaRPr lang="en-NL" b="1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7F130C-6FBD-6F93-7247-B65842AFAAF8}"/>
              </a:ext>
            </a:extLst>
          </p:cNvPr>
          <p:cNvSpPr/>
          <p:nvPr/>
        </p:nvSpPr>
        <p:spPr>
          <a:xfrm>
            <a:off x="2503891" y="5108414"/>
            <a:ext cx="1908000" cy="648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File statistics</a:t>
            </a:r>
            <a:endParaRPr lang="en-NL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9D4925-2A29-51AF-7699-E03AD07E4C2E}"/>
              </a:ext>
            </a:extLst>
          </p:cNvPr>
          <p:cNvSpPr txBox="1"/>
          <p:nvPr/>
        </p:nvSpPr>
        <p:spPr>
          <a:xfrm>
            <a:off x="2475411" y="1973368"/>
            <a:ext cx="3265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Run a protein sequence alignment: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206756-E8CE-FF44-BBB4-F7F98F51E506}"/>
              </a:ext>
            </a:extLst>
          </p:cNvPr>
          <p:cNvSpPr txBox="1"/>
          <p:nvPr/>
        </p:nvSpPr>
        <p:spPr>
          <a:xfrm>
            <a:off x="2421246" y="4669240"/>
            <a:ext cx="3265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Run a protein sequence alignment: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7B4CE96-F640-7682-D742-D2F7CBC7A9D8}"/>
              </a:ext>
            </a:extLst>
          </p:cNvPr>
          <p:cNvSpPr/>
          <p:nvPr/>
        </p:nvSpPr>
        <p:spPr>
          <a:xfrm>
            <a:off x="2503891" y="3736746"/>
            <a:ext cx="1908000" cy="648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BLASTN</a:t>
            </a:r>
            <a:endParaRPr lang="en-NL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E0A059-28A5-B98C-E1E5-1A88EAAAB545}"/>
              </a:ext>
            </a:extLst>
          </p:cNvPr>
          <p:cNvSpPr txBox="1"/>
          <p:nvPr/>
        </p:nvSpPr>
        <p:spPr>
          <a:xfrm>
            <a:off x="2484296" y="3321304"/>
            <a:ext cx="3583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Run a nucleotide sequence alignment: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C740E8D-98AB-2BBD-069F-70CE7FBB3D10}"/>
              </a:ext>
            </a:extLst>
          </p:cNvPr>
          <p:cNvCxnSpPr>
            <a:cxnSpLocks/>
          </p:cNvCxnSpPr>
          <p:nvPr/>
        </p:nvCxnSpPr>
        <p:spPr>
          <a:xfrm flipV="1">
            <a:off x="6096000" y="1805606"/>
            <a:ext cx="0" cy="40661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4BCDCD4-689F-7247-E4A1-A3AF752E5ED5}"/>
              </a:ext>
            </a:extLst>
          </p:cNvPr>
          <p:cNvSpPr txBox="1"/>
          <p:nvPr/>
        </p:nvSpPr>
        <p:spPr>
          <a:xfrm>
            <a:off x="6402686" y="1973368"/>
            <a:ext cx="29619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Create output statistics figures: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74DC77-B2EC-692F-937C-B79E8D5F75DA}"/>
              </a:ext>
            </a:extLst>
          </p:cNvPr>
          <p:cNvSpPr txBox="1"/>
          <p:nvPr/>
        </p:nvSpPr>
        <p:spPr>
          <a:xfrm>
            <a:off x="6402686" y="4669240"/>
            <a:ext cx="23062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Filter and export output: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A61DE2-482A-B031-7216-F84E47DD0A8F}"/>
              </a:ext>
            </a:extLst>
          </p:cNvPr>
          <p:cNvSpPr txBox="1"/>
          <p:nvPr/>
        </p:nvSpPr>
        <p:spPr>
          <a:xfrm>
            <a:off x="6402686" y="3321304"/>
            <a:ext cx="28634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Get advice for future research:</a:t>
            </a:r>
          </a:p>
        </p:txBody>
      </p:sp>
      <p:pic>
        <p:nvPicPr>
          <p:cNvPr id="24" name="Graphic 23" descr="Upload with solid fill">
            <a:extLst>
              <a:ext uri="{FF2B5EF4-FFF2-40B4-BE49-F238E27FC236}">
                <a16:creationId xmlns:a16="http://schemas.microsoft.com/office/drawing/2014/main" id="{199CE75C-B604-BFC7-5776-0883196E16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34701" y="5061817"/>
            <a:ext cx="720000" cy="720000"/>
          </a:xfrm>
          <a:prstGeom prst="rect">
            <a:avLst/>
          </a:prstGeom>
        </p:spPr>
      </p:pic>
      <p:pic>
        <p:nvPicPr>
          <p:cNvPr id="26" name="Graphic 25" descr="Server outline">
            <a:extLst>
              <a:ext uri="{FF2B5EF4-FFF2-40B4-BE49-F238E27FC236}">
                <a16:creationId xmlns:a16="http://schemas.microsoft.com/office/drawing/2014/main" id="{2DBD8C28-3820-D486-F27B-FBD4C6CE4C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5276" y="2404002"/>
            <a:ext cx="720000" cy="720000"/>
          </a:xfrm>
          <a:prstGeom prst="rect">
            <a:avLst/>
          </a:prstGeom>
        </p:spPr>
      </p:pic>
      <p:pic>
        <p:nvPicPr>
          <p:cNvPr id="30" name="Graphic 29" descr="Muscular arm with solid fill">
            <a:extLst>
              <a:ext uri="{FF2B5EF4-FFF2-40B4-BE49-F238E27FC236}">
                <a16:creationId xmlns:a16="http://schemas.microsoft.com/office/drawing/2014/main" id="{9A681D59-992D-33BB-4ED3-D328BC96EF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4701" y="2404002"/>
            <a:ext cx="720000" cy="720000"/>
          </a:xfrm>
          <a:prstGeom prst="rect">
            <a:avLst/>
          </a:prstGeom>
        </p:spPr>
      </p:pic>
      <p:pic>
        <p:nvPicPr>
          <p:cNvPr id="32" name="Graphic 31" descr="DNA with solid fill">
            <a:extLst>
              <a:ext uri="{FF2B5EF4-FFF2-40B4-BE49-F238E27FC236}">
                <a16:creationId xmlns:a16="http://schemas.microsoft.com/office/drawing/2014/main" id="{65061E87-C7F8-4D12-4D1C-B59536F9CB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00000">
            <a:off x="5134701" y="3740657"/>
            <a:ext cx="720000" cy="720000"/>
          </a:xfrm>
          <a:prstGeom prst="rect">
            <a:avLst/>
          </a:prstGeom>
        </p:spPr>
      </p:pic>
      <p:pic>
        <p:nvPicPr>
          <p:cNvPr id="34" name="Graphic 33" descr="Images with solid fill">
            <a:extLst>
              <a:ext uri="{FF2B5EF4-FFF2-40B4-BE49-F238E27FC236}">
                <a16:creationId xmlns:a16="http://schemas.microsoft.com/office/drawing/2014/main" id="{4CDC5F10-53E3-F425-3B93-BFD1465C3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4400" y="3740657"/>
            <a:ext cx="720000" cy="720000"/>
          </a:xfrm>
          <a:prstGeom prst="rect">
            <a:avLst/>
          </a:prstGeom>
        </p:spPr>
      </p:pic>
      <p:pic>
        <p:nvPicPr>
          <p:cNvPr id="36" name="Graphic 35" descr="Download from cloud with solid fill">
            <a:extLst>
              <a:ext uri="{FF2B5EF4-FFF2-40B4-BE49-F238E27FC236}">
                <a16:creationId xmlns:a16="http://schemas.microsoft.com/office/drawing/2014/main" id="{BDBE9FF2-7576-07D4-486E-39A80C6BE7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31756" y="5061817"/>
            <a:ext cx="720000" cy="720000"/>
          </a:xfrm>
          <a:prstGeom prst="rect">
            <a:avLst/>
          </a:prstGeom>
        </p:spPr>
      </p:pic>
      <p:pic>
        <p:nvPicPr>
          <p:cNvPr id="38" name="Graphic 37" descr="Teacher outline">
            <a:extLst>
              <a:ext uri="{FF2B5EF4-FFF2-40B4-BE49-F238E27FC236}">
                <a16:creationId xmlns:a16="http://schemas.microsoft.com/office/drawing/2014/main" id="{DD638689-97DA-7E3D-2D51-1BAB6F4050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51401" y="2404002"/>
            <a:ext cx="720000" cy="720000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AAF9387-D01F-A739-07FA-65A1488386DB}"/>
              </a:ext>
            </a:extLst>
          </p:cNvPr>
          <p:cNvSpPr/>
          <p:nvPr/>
        </p:nvSpPr>
        <p:spPr>
          <a:xfrm>
            <a:off x="7781744" y="2427301"/>
            <a:ext cx="1908000" cy="6480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Create images</a:t>
            </a:r>
            <a:endParaRPr lang="en-NL" b="1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A816BA6-8460-16C3-7125-C306CB9D19D2}"/>
              </a:ext>
            </a:extLst>
          </p:cNvPr>
          <p:cNvSpPr/>
          <p:nvPr/>
        </p:nvSpPr>
        <p:spPr>
          <a:xfrm>
            <a:off x="7781745" y="5108414"/>
            <a:ext cx="1908000" cy="648000"/>
          </a:xfrm>
          <a:prstGeom prst="roundRect">
            <a:avLst/>
          </a:prstGeom>
          <a:solidFill>
            <a:srgbClr val="F8F58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Select &amp; export</a:t>
            </a:r>
            <a:endParaRPr lang="en-NL" b="1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67F47A9-F9DA-2735-FE5B-80D4DDAA4C84}"/>
              </a:ext>
            </a:extLst>
          </p:cNvPr>
          <p:cNvSpPr/>
          <p:nvPr/>
        </p:nvSpPr>
        <p:spPr>
          <a:xfrm>
            <a:off x="7781744" y="3736746"/>
            <a:ext cx="1908000" cy="648000"/>
          </a:xfrm>
          <a:prstGeom prst="roundRect">
            <a:avLst/>
          </a:prstGeom>
          <a:solidFill>
            <a:srgbClr val="F05299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Get advice</a:t>
            </a:r>
            <a:endParaRPr lang="en-NL" b="1" dirty="0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2D6179-D219-2538-FD22-17438D8425B6}"/>
              </a:ext>
            </a:extLst>
          </p:cNvPr>
          <p:cNvGrpSpPr/>
          <p:nvPr/>
        </p:nvGrpSpPr>
        <p:grpSpPr>
          <a:xfrm flipH="1">
            <a:off x="6371318" y="1896687"/>
            <a:ext cx="5789561" cy="4066144"/>
            <a:chOff x="197484" y="1887581"/>
            <a:chExt cx="5789561" cy="406614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2B80527-828B-71D4-F840-CF185FEBFA9F}"/>
                </a:ext>
              </a:extLst>
            </p:cNvPr>
            <p:cNvSpPr/>
            <p:nvPr/>
          </p:nvSpPr>
          <p:spPr>
            <a:xfrm>
              <a:off x="2344784" y="1887582"/>
              <a:ext cx="3642261" cy="4066143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C51EDC6-8FB0-4014-B974-0735A0A29452}"/>
                </a:ext>
              </a:extLst>
            </p:cNvPr>
            <p:cNvSpPr/>
            <p:nvPr/>
          </p:nvSpPr>
          <p:spPr>
            <a:xfrm>
              <a:off x="197484" y="1887581"/>
              <a:ext cx="1780724" cy="4066143"/>
            </a:xfrm>
            <a:prstGeom prst="rect">
              <a:avLst/>
            </a:prstGeom>
            <a:solidFill>
              <a:srgbClr val="C00000"/>
            </a:solidFill>
            <a:ln w="571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Tools that give an output to the user. The user can either provide its own BLAST output file to edit, or the tools on the right link these output </a:t>
              </a:r>
              <a:r>
                <a:rPr lang="en-GB" dirty="0" err="1"/>
                <a:t>toosl</a:t>
              </a:r>
              <a:endParaRPr lang="en-NL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F8BA9E5-DE0B-C72F-ED61-F7CEABAE32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5338" y="3951614"/>
              <a:ext cx="36000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29706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4E7C9-9947-BA60-C5D7-39F040245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1D2C10-064B-169A-BB00-A353FB0667A3}"/>
              </a:ext>
            </a:extLst>
          </p:cNvPr>
          <p:cNvSpPr>
            <a:spLocks noChangeAspect="1"/>
          </p:cNvSpPr>
          <p:nvPr/>
        </p:nvSpPr>
        <p:spPr>
          <a:xfrm>
            <a:off x="1776000" y="549000"/>
            <a:ext cx="8640000" cy="57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F4941-5ECF-8804-27C3-018FD37A4497}"/>
              </a:ext>
            </a:extLst>
          </p:cNvPr>
          <p:cNvSpPr txBox="1"/>
          <p:nvPr/>
        </p:nvSpPr>
        <p:spPr>
          <a:xfrm>
            <a:off x="2495006" y="698863"/>
            <a:ext cx="33786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File statistics</a:t>
            </a:r>
          </a:p>
          <a:p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Amino acid sequences</a:t>
            </a:r>
            <a:endParaRPr lang="en-GB" sz="1600" dirty="0">
              <a:latin typeface="+mj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6FD20FB-6B54-87B7-AF05-C4564EA239D6}"/>
              </a:ext>
            </a:extLst>
          </p:cNvPr>
          <p:cNvCxnSpPr>
            <a:cxnSpLocks/>
          </p:cNvCxnSpPr>
          <p:nvPr/>
        </p:nvCxnSpPr>
        <p:spPr>
          <a:xfrm>
            <a:off x="2496000" y="1812141"/>
            <a:ext cx="72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6A35259-30CD-3085-6B40-C7F7CE903132}"/>
              </a:ext>
            </a:extLst>
          </p:cNvPr>
          <p:cNvSpPr>
            <a:spLocks noChangeAspect="1"/>
          </p:cNvSpPr>
          <p:nvPr/>
        </p:nvSpPr>
        <p:spPr>
          <a:xfrm>
            <a:off x="2045966" y="2612571"/>
            <a:ext cx="2512971" cy="34028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95F25A-A37D-46C1-1677-099E3B9E72EA}"/>
              </a:ext>
            </a:extLst>
          </p:cNvPr>
          <p:cNvSpPr>
            <a:spLocks noChangeAspect="1"/>
          </p:cNvSpPr>
          <p:nvPr/>
        </p:nvSpPr>
        <p:spPr>
          <a:xfrm>
            <a:off x="4839515" y="2612571"/>
            <a:ext cx="2512971" cy="34028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910988-35E3-7363-0D86-21781F26BE13}"/>
              </a:ext>
            </a:extLst>
          </p:cNvPr>
          <p:cNvSpPr>
            <a:spLocks noChangeAspect="1"/>
          </p:cNvSpPr>
          <p:nvPr/>
        </p:nvSpPr>
        <p:spPr>
          <a:xfrm>
            <a:off x="7633065" y="2612571"/>
            <a:ext cx="2512971" cy="34028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6EF91B-FB10-0996-C6F3-E7FE20D77B54}"/>
              </a:ext>
            </a:extLst>
          </p:cNvPr>
          <p:cNvSpPr txBox="1"/>
          <p:nvPr/>
        </p:nvSpPr>
        <p:spPr>
          <a:xfrm>
            <a:off x="2529322" y="2132693"/>
            <a:ext cx="1546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Raw contents</a:t>
            </a:r>
            <a:endParaRPr lang="en-N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1C2109-BF01-FA43-501B-FAFD252EDED5}"/>
              </a:ext>
            </a:extLst>
          </p:cNvPr>
          <p:cNvSpPr txBox="1"/>
          <p:nvPr/>
        </p:nvSpPr>
        <p:spPr>
          <a:xfrm>
            <a:off x="5023847" y="2132693"/>
            <a:ext cx="2144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Sequence statistics</a:t>
            </a:r>
            <a:endParaRPr lang="en-NL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A195AD-29C1-1EA6-FBF0-9AEAF7ECF29D}"/>
              </a:ext>
            </a:extLst>
          </p:cNvPr>
          <p:cNvSpPr txBox="1"/>
          <p:nvPr/>
        </p:nvSpPr>
        <p:spPr>
          <a:xfrm>
            <a:off x="8032103" y="2127960"/>
            <a:ext cx="171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Tool suggestion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6DB6075-5A2D-56BF-81E7-97F99588D606}"/>
                  </a:ext>
                </a:extLst>
              </p:cNvPr>
              <p:cNvSpPr txBox="1"/>
              <p:nvPr/>
            </p:nvSpPr>
            <p:spPr>
              <a:xfrm>
                <a:off x="2116996" y="2710187"/>
                <a:ext cx="2370909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800" dirty="0"/>
                  <a:t>&gt;Sequence header 1</a:t>
                </a:r>
              </a:p>
              <a:p>
                <a:pPr algn="ctr"/>
                <a:r>
                  <a:rPr lang="en-GB" sz="1800" dirty="0"/>
                  <a:t>Protein sequence 1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&gt;Sequence header 2 Protein sequence 2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&gt;…</a:t>
                </a:r>
              </a:p>
              <a:p>
                <a:pPr algn="ctr"/>
                <a:r>
                  <a:rPr lang="en-GB" dirty="0"/>
                  <a:t>…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&gt;Sequence header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/>
              </a:p>
              <a:p>
                <a:pPr algn="ctr"/>
                <a:r>
                  <a:rPr lang="en-GB" dirty="0"/>
                  <a:t>Protein sequence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NL" sz="18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6DB6075-5A2D-56BF-81E7-97F99588D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996" y="2710187"/>
                <a:ext cx="2370909" cy="3139321"/>
              </a:xfrm>
              <a:prstGeom prst="rect">
                <a:avLst/>
              </a:prstGeom>
              <a:blipFill>
                <a:blip r:embed="rId2"/>
                <a:stretch>
                  <a:fillRect t="-971" r="-514" b="-233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73F73E38-02AC-2279-5BF2-1BCD731BF690}"/>
              </a:ext>
            </a:extLst>
          </p:cNvPr>
          <p:cNvSpPr txBox="1"/>
          <p:nvPr/>
        </p:nvSpPr>
        <p:spPr>
          <a:xfrm>
            <a:off x="4957353" y="2705951"/>
            <a:ext cx="1267098" cy="40862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solidFill>
                  <a:schemeClr val="bg1"/>
                </a:solidFill>
              </a:rPr>
              <a:t>Sequence  </a:t>
            </a:r>
            <a:endParaRPr lang="en-NL" sz="18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8855A1-8BE3-B7A6-77A6-F33D0254D1E9}"/>
              </a:ext>
            </a:extLst>
          </p:cNvPr>
          <p:cNvSpPr txBox="1"/>
          <p:nvPr/>
        </p:nvSpPr>
        <p:spPr>
          <a:xfrm>
            <a:off x="6342289" y="2705951"/>
            <a:ext cx="901065" cy="40862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Next</a:t>
            </a:r>
            <a:endParaRPr lang="en-NL" sz="18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6F5182-7A43-7384-63A7-64414600873A}"/>
              </a:ext>
            </a:extLst>
          </p:cNvPr>
          <p:cNvSpPr txBox="1"/>
          <p:nvPr/>
        </p:nvSpPr>
        <p:spPr>
          <a:xfrm>
            <a:off x="4910544" y="3177133"/>
            <a:ext cx="23709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dirty="0"/>
              <a:t>Sequence length and contents. Additionally;</a:t>
            </a:r>
          </a:p>
          <a:p>
            <a:pPr algn="ctr"/>
            <a:endParaRPr lang="en-GB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A3B656-F9E5-D263-D6A1-119865768307}"/>
              </a:ext>
            </a:extLst>
          </p:cNvPr>
          <p:cNvSpPr txBox="1"/>
          <p:nvPr/>
        </p:nvSpPr>
        <p:spPr>
          <a:xfrm>
            <a:off x="4850131" y="3639845"/>
            <a:ext cx="2512970" cy="341632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algn="ctr"/>
            <a:r>
              <a:rPr lang="en-GB" sz="1100" dirty="0"/>
              <a:t>Protein;</a:t>
            </a:r>
          </a:p>
          <a:p>
            <a:pPr algn="ctr"/>
            <a:endParaRPr lang="en-GB" sz="1100" dirty="0"/>
          </a:p>
          <a:p>
            <a:pPr marL="171450" indent="-72000">
              <a:buFont typeface="Arial" panose="020B0604020202020204" pitchFamily="34" charset="0"/>
              <a:buChar char="•"/>
            </a:pPr>
            <a:r>
              <a:rPr lang="en-GB" sz="1100" dirty="0"/>
              <a:t>Weight</a:t>
            </a:r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r>
              <a:rPr lang="en-GB" sz="1100" dirty="0"/>
              <a:t>Nucleotide;</a:t>
            </a:r>
          </a:p>
          <a:p>
            <a:pPr algn="ctr"/>
            <a:endParaRPr lang="en-GB" sz="1100" dirty="0"/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Reverse compliment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Open reading frames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GC content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Open reading frame translation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Codon frequency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1BC68A6-21A3-4CC7-EC33-F96CD9BE5E86}"/>
              </a:ext>
            </a:extLst>
          </p:cNvPr>
          <p:cNvSpPr/>
          <p:nvPr/>
        </p:nvSpPr>
        <p:spPr>
          <a:xfrm>
            <a:off x="7869826" y="2813110"/>
            <a:ext cx="2090603" cy="91440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 to BLASTP / BLASTN</a:t>
            </a:r>
            <a:endParaRPr lang="en-NL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FC0812-E1BA-E0BE-3051-8F00F4B2D85F}"/>
              </a:ext>
            </a:extLst>
          </p:cNvPr>
          <p:cNvSpPr txBox="1"/>
          <p:nvPr/>
        </p:nvSpPr>
        <p:spPr>
          <a:xfrm>
            <a:off x="7729672" y="3778344"/>
            <a:ext cx="2370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/>
              <a:t>Suggestion explanation:</a:t>
            </a:r>
          </a:p>
          <a:p>
            <a:pPr algn="ctr"/>
            <a:r>
              <a:rPr lang="en-GB" dirty="0"/>
              <a:t>…</a:t>
            </a:r>
            <a:endParaRPr lang="en-NL" sz="1800" dirty="0"/>
          </a:p>
        </p:txBody>
      </p:sp>
    </p:spTree>
    <p:extLst>
      <p:ext uri="{BB962C8B-B14F-4D97-AF65-F5344CB8AC3E}">
        <p14:creationId xmlns:p14="http://schemas.microsoft.com/office/powerpoint/2010/main" val="3388655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83D24-FC53-76FD-76AE-7CFDEA996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DC3D19-869A-0EFD-F994-988FEA89BCE1}"/>
              </a:ext>
            </a:extLst>
          </p:cNvPr>
          <p:cNvSpPr>
            <a:spLocks noChangeAspect="1"/>
          </p:cNvSpPr>
          <p:nvPr/>
        </p:nvSpPr>
        <p:spPr>
          <a:xfrm>
            <a:off x="1776000" y="549000"/>
            <a:ext cx="8640000" cy="57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6A29CC-35EA-16D1-A65C-18D410E674BE}"/>
              </a:ext>
            </a:extLst>
          </p:cNvPr>
          <p:cNvSpPr txBox="1"/>
          <p:nvPr/>
        </p:nvSpPr>
        <p:spPr>
          <a:xfrm>
            <a:off x="2495006" y="698863"/>
            <a:ext cx="33786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File statistics</a:t>
            </a:r>
          </a:p>
          <a:p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Amino acid sequences</a:t>
            </a:r>
            <a:endParaRPr lang="en-GB" sz="1600" dirty="0">
              <a:latin typeface="+mj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A1C8B0-332F-A3C2-2117-05D1F4534142}"/>
              </a:ext>
            </a:extLst>
          </p:cNvPr>
          <p:cNvCxnSpPr>
            <a:cxnSpLocks/>
          </p:cNvCxnSpPr>
          <p:nvPr/>
        </p:nvCxnSpPr>
        <p:spPr>
          <a:xfrm>
            <a:off x="2496000" y="1812141"/>
            <a:ext cx="72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7D0723E-BB86-FEF7-826A-46E8688D18DF}"/>
              </a:ext>
            </a:extLst>
          </p:cNvPr>
          <p:cNvSpPr>
            <a:spLocks noChangeAspect="1"/>
          </p:cNvSpPr>
          <p:nvPr/>
        </p:nvSpPr>
        <p:spPr>
          <a:xfrm>
            <a:off x="2045966" y="2612571"/>
            <a:ext cx="2512971" cy="34028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CA039E-85A4-B6EB-F44D-1DC1C8CBFC2F}"/>
              </a:ext>
            </a:extLst>
          </p:cNvPr>
          <p:cNvSpPr>
            <a:spLocks noChangeAspect="1"/>
          </p:cNvSpPr>
          <p:nvPr/>
        </p:nvSpPr>
        <p:spPr>
          <a:xfrm>
            <a:off x="4839515" y="2612571"/>
            <a:ext cx="2512971" cy="34028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116160-DDEA-3F40-64F6-8F21D49B082A}"/>
              </a:ext>
            </a:extLst>
          </p:cNvPr>
          <p:cNvSpPr>
            <a:spLocks noChangeAspect="1"/>
          </p:cNvSpPr>
          <p:nvPr/>
        </p:nvSpPr>
        <p:spPr>
          <a:xfrm>
            <a:off x="7633065" y="2612571"/>
            <a:ext cx="2512971" cy="34028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82E373-0355-8272-B0C2-62978B71A2D7}"/>
              </a:ext>
            </a:extLst>
          </p:cNvPr>
          <p:cNvSpPr txBox="1"/>
          <p:nvPr/>
        </p:nvSpPr>
        <p:spPr>
          <a:xfrm>
            <a:off x="2529322" y="2132693"/>
            <a:ext cx="1546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Raw contents</a:t>
            </a:r>
            <a:endParaRPr lang="en-N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BBBE6C-FD63-82C4-31BB-AB9902F5C40C}"/>
              </a:ext>
            </a:extLst>
          </p:cNvPr>
          <p:cNvSpPr txBox="1"/>
          <p:nvPr/>
        </p:nvSpPr>
        <p:spPr>
          <a:xfrm>
            <a:off x="5023847" y="2132693"/>
            <a:ext cx="2144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Sequence statistics</a:t>
            </a:r>
            <a:endParaRPr lang="en-NL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3BF2A8-CFA0-34E3-65B9-61970F507670}"/>
              </a:ext>
            </a:extLst>
          </p:cNvPr>
          <p:cNvSpPr txBox="1"/>
          <p:nvPr/>
        </p:nvSpPr>
        <p:spPr>
          <a:xfrm>
            <a:off x="8032103" y="2127960"/>
            <a:ext cx="171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Tool suggestion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3E048AA-7024-8101-BBA5-393E051D3D84}"/>
                  </a:ext>
                </a:extLst>
              </p:cNvPr>
              <p:cNvSpPr txBox="1"/>
              <p:nvPr/>
            </p:nvSpPr>
            <p:spPr>
              <a:xfrm>
                <a:off x="2116996" y="2710187"/>
                <a:ext cx="2370909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800" dirty="0"/>
                  <a:t>&gt;Sequence header 1</a:t>
                </a:r>
              </a:p>
              <a:p>
                <a:pPr algn="ctr"/>
                <a:r>
                  <a:rPr lang="en-GB" sz="1800" dirty="0"/>
                  <a:t>Protein sequence 1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&gt;Sequence header 2 Protein sequence 2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&gt;…</a:t>
                </a:r>
              </a:p>
              <a:p>
                <a:pPr algn="ctr"/>
                <a:r>
                  <a:rPr lang="en-GB" dirty="0"/>
                  <a:t>…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&gt;Sequence header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/>
              </a:p>
              <a:p>
                <a:pPr algn="ctr"/>
                <a:r>
                  <a:rPr lang="en-GB" dirty="0"/>
                  <a:t>Protein sequence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NL" sz="18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3E048AA-7024-8101-BBA5-393E051D3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996" y="2710187"/>
                <a:ext cx="2370909" cy="3139321"/>
              </a:xfrm>
              <a:prstGeom prst="rect">
                <a:avLst/>
              </a:prstGeom>
              <a:blipFill>
                <a:blip r:embed="rId2"/>
                <a:stretch>
                  <a:fillRect t="-971" r="-514" b="-233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C7046B3E-193E-165E-A4D6-D9C1EE5DDFFA}"/>
              </a:ext>
            </a:extLst>
          </p:cNvPr>
          <p:cNvSpPr txBox="1"/>
          <p:nvPr/>
        </p:nvSpPr>
        <p:spPr>
          <a:xfrm>
            <a:off x="4957353" y="2705951"/>
            <a:ext cx="1267098" cy="40862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solidFill>
                  <a:schemeClr val="bg1"/>
                </a:solidFill>
              </a:rPr>
              <a:t>Sequence  </a:t>
            </a:r>
            <a:endParaRPr lang="en-NL" sz="18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900306-26C1-CBA3-4FAC-C44AE96CBBF1}"/>
              </a:ext>
            </a:extLst>
          </p:cNvPr>
          <p:cNvSpPr txBox="1"/>
          <p:nvPr/>
        </p:nvSpPr>
        <p:spPr>
          <a:xfrm>
            <a:off x="6342289" y="2705951"/>
            <a:ext cx="901065" cy="40862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Next</a:t>
            </a:r>
            <a:endParaRPr lang="en-NL" sz="18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B16D29-8279-707A-EF19-4E5F2F7084B4}"/>
              </a:ext>
            </a:extLst>
          </p:cNvPr>
          <p:cNvSpPr txBox="1"/>
          <p:nvPr/>
        </p:nvSpPr>
        <p:spPr>
          <a:xfrm>
            <a:off x="4910544" y="3177133"/>
            <a:ext cx="23709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dirty="0"/>
              <a:t>Sequence length and contents. Additionally;</a:t>
            </a:r>
          </a:p>
          <a:p>
            <a:pPr algn="ctr"/>
            <a:endParaRPr lang="en-GB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C70E3E-1A4C-07AC-7B44-D2C92F4ED6F1}"/>
              </a:ext>
            </a:extLst>
          </p:cNvPr>
          <p:cNvSpPr txBox="1"/>
          <p:nvPr/>
        </p:nvSpPr>
        <p:spPr>
          <a:xfrm>
            <a:off x="4850131" y="3639845"/>
            <a:ext cx="2512970" cy="341632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algn="ctr"/>
            <a:r>
              <a:rPr lang="en-GB" sz="1100" dirty="0"/>
              <a:t>Protein;</a:t>
            </a:r>
          </a:p>
          <a:p>
            <a:pPr algn="ctr"/>
            <a:endParaRPr lang="en-GB" sz="1100" dirty="0"/>
          </a:p>
          <a:p>
            <a:pPr marL="171450" indent="-72000">
              <a:buFont typeface="Arial" panose="020B0604020202020204" pitchFamily="34" charset="0"/>
              <a:buChar char="•"/>
            </a:pPr>
            <a:r>
              <a:rPr lang="en-GB" sz="1100" dirty="0"/>
              <a:t>Weight</a:t>
            </a:r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r>
              <a:rPr lang="en-GB" sz="1100" dirty="0"/>
              <a:t>Nucleotide;</a:t>
            </a:r>
          </a:p>
          <a:p>
            <a:pPr algn="ctr"/>
            <a:endParaRPr lang="en-GB" sz="1100" dirty="0"/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Reverse compliment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Open reading frames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GC content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Open reading frame translation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Codon frequency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E7CF2DD-2158-3146-9CCF-C0B4072F9289}"/>
              </a:ext>
            </a:extLst>
          </p:cNvPr>
          <p:cNvSpPr/>
          <p:nvPr/>
        </p:nvSpPr>
        <p:spPr>
          <a:xfrm>
            <a:off x="7869826" y="2813110"/>
            <a:ext cx="2090603" cy="91440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 to BLASTP / BLASTN</a:t>
            </a:r>
            <a:endParaRPr lang="en-NL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863210-AC87-CCBE-989C-75BFDF431E99}"/>
              </a:ext>
            </a:extLst>
          </p:cNvPr>
          <p:cNvSpPr txBox="1"/>
          <p:nvPr/>
        </p:nvSpPr>
        <p:spPr>
          <a:xfrm>
            <a:off x="7729672" y="3778344"/>
            <a:ext cx="2370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/>
              <a:t>Suggestion explanation:</a:t>
            </a:r>
          </a:p>
          <a:p>
            <a:pPr algn="ctr"/>
            <a:r>
              <a:rPr lang="en-GB" dirty="0"/>
              <a:t>…</a:t>
            </a:r>
            <a:endParaRPr lang="en-NL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C13FB01-10E3-DF3B-1EBD-4E72A658CC2E}"/>
              </a:ext>
            </a:extLst>
          </p:cNvPr>
          <p:cNvGrpSpPr/>
          <p:nvPr/>
        </p:nvGrpSpPr>
        <p:grpSpPr>
          <a:xfrm>
            <a:off x="41777" y="1926433"/>
            <a:ext cx="4598803" cy="4066144"/>
            <a:chOff x="197484" y="1887581"/>
            <a:chExt cx="4598803" cy="406614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F876874-6558-1F36-506E-BB1E84E00F5C}"/>
                </a:ext>
              </a:extLst>
            </p:cNvPr>
            <p:cNvSpPr/>
            <p:nvPr/>
          </p:nvSpPr>
          <p:spPr>
            <a:xfrm>
              <a:off x="2191062" y="1887582"/>
              <a:ext cx="2605225" cy="4066143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79E222D-CF84-EB8F-AB88-3784EEB8D8A8}"/>
                </a:ext>
              </a:extLst>
            </p:cNvPr>
            <p:cNvSpPr/>
            <p:nvPr/>
          </p:nvSpPr>
          <p:spPr>
            <a:xfrm>
              <a:off x="197484" y="1887581"/>
              <a:ext cx="1780724" cy="4066143"/>
            </a:xfrm>
            <a:prstGeom prst="rect">
              <a:avLst/>
            </a:prstGeom>
            <a:solidFill>
              <a:srgbClr val="C00000"/>
            </a:solidFill>
            <a:ln w="571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 quick print of the user file’s contents</a:t>
              </a:r>
              <a:endParaRPr lang="en-NL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60E1E7F-01B9-A67A-08FC-E6127AB1B0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5338" y="3951614"/>
              <a:ext cx="36000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40507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D9AFE-3554-5FFE-70F5-36804C994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D48B9F-C81D-A16D-91CE-FBA624F02819}"/>
              </a:ext>
            </a:extLst>
          </p:cNvPr>
          <p:cNvSpPr>
            <a:spLocks noChangeAspect="1"/>
          </p:cNvSpPr>
          <p:nvPr/>
        </p:nvSpPr>
        <p:spPr>
          <a:xfrm>
            <a:off x="1776000" y="549000"/>
            <a:ext cx="8640000" cy="57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ABBB4B-89C0-C1FB-0A5A-680D7DC3B5F3}"/>
              </a:ext>
            </a:extLst>
          </p:cNvPr>
          <p:cNvSpPr txBox="1"/>
          <p:nvPr/>
        </p:nvSpPr>
        <p:spPr>
          <a:xfrm>
            <a:off x="2495006" y="698863"/>
            <a:ext cx="33786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File statistics</a:t>
            </a:r>
          </a:p>
          <a:p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Amino acid sequences</a:t>
            </a:r>
            <a:endParaRPr lang="en-GB" sz="1600" dirty="0">
              <a:latin typeface="+mj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B6C50A-6474-C294-54AD-3EA6D0003AC7}"/>
              </a:ext>
            </a:extLst>
          </p:cNvPr>
          <p:cNvCxnSpPr>
            <a:cxnSpLocks/>
          </p:cNvCxnSpPr>
          <p:nvPr/>
        </p:nvCxnSpPr>
        <p:spPr>
          <a:xfrm>
            <a:off x="2496000" y="1812141"/>
            <a:ext cx="72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A408668-0A7C-89FA-A3F1-CD1ED20F689C}"/>
              </a:ext>
            </a:extLst>
          </p:cNvPr>
          <p:cNvSpPr>
            <a:spLocks noChangeAspect="1"/>
          </p:cNvSpPr>
          <p:nvPr/>
        </p:nvSpPr>
        <p:spPr>
          <a:xfrm>
            <a:off x="2045966" y="2612571"/>
            <a:ext cx="2512971" cy="34028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76BFF3-116F-7387-EA14-EF40448A56AD}"/>
              </a:ext>
            </a:extLst>
          </p:cNvPr>
          <p:cNvSpPr>
            <a:spLocks noChangeAspect="1"/>
          </p:cNvSpPr>
          <p:nvPr/>
        </p:nvSpPr>
        <p:spPr>
          <a:xfrm>
            <a:off x="4839515" y="2612571"/>
            <a:ext cx="2512971" cy="34028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BF5CD6-1079-C112-A4B5-ED439F86B205}"/>
              </a:ext>
            </a:extLst>
          </p:cNvPr>
          <p:cNvSpPr>
            <a:spLocks noChangeAspect="1"/>
          </p:cNvSpPr>
          <p:nvPr/>
        </p:nvSpPr>
        <p:spPr>
          <a:xfrm>
            <a:off x="7633065" y="2612571"/>
            <a:ext cx="2512971" cy="34028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88AF44-921D-E52F-6FFA-FD516CBE25F4}"/>
              </a:ext>
            </a:extLst>
          </p:cNvPr>
          <p:cNvSpPr txBox="1"/>
          <p:nvPr/>
        </p:nvSpPr>
        <p:spPr>
          <a:xfrm>
            <a:off x="2529322" y="2132693"/>
            <a:ext cx="1546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Raw contents</a:t>
            </a:r>
            <a:endParaRPr lang="en-N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A277F7-39B8-7ED9-45BA-E6F13FC968CC}"/>
              </a:ext>
            </a:extLst>
          </p:cNvPr>
          <p:cNvSpPr txBox="1"/>
          <p:nvPr/>
        </p:nvSpPr>
        <p:spPr>
          <a:xfrm>
            <a:off x="5023847" y="2132693"/>
            <a:ext cx="2144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Sequence statistics</a:t>
            </a:r>
            <a:endParaRPr lang="en-NL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C0ABC3-9F1E-62AA-26DD-214F46743841}"/>
              </a:ext>
            </a:extLst>
          </p:cNvPr>
          <p:cNvSpPr txBox="1"/>
          <p:nvPr/>
        </p:nvSpPr>
        <p:spPr>
          <a:xfrm>
            <a:off x="8032103" y="2127960"/>
            <a:ext cx="171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Tool suggestion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15B0D9-550A-F638-1773-58B39659CF35}"/>
                  </a:ext>
                </a:extLst>
              </p:cNvPr>
              <p:cNvSpPr txBox="1"/>
              <p:nvPr/>
            </p:nvSpPr>
            <p:spPr>
              <a:xfrm>
                <a:off x="2116996" y="2710187"/>
                <a:ext cx="2370909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800" dirty="0"/>
                  <a:t>&gt;Sequence header 1</a:t>
                </a:r>
              </a:p>
              <a:p>
                <a:pPr algn="ctr"/>
                <a:r>
                  <a:rPr lang="en-GB" sz="1800" dirty="0"/>
                  <a:t>Protein sequence 1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&gt;Sequence header 2 Protein sequence 2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&gt;…</a:t>
                </a:r>
              </a:p>
              <a:p>
                <a:pPr algn="ctr"/>
                <a:r>
                  <a:rPr lang="en-GB" dirty="0"/>
                  <a:t>…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&gt;Sequence header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/>
              </a:p>
              <a:p>
                <a:pPr algn="ctr"/>
                <a:r>
                  <a:rPr lang="en-GB" dirty="0"/>
                  <a:t>Protein sequence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NL" sz="18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15B0D9-550A-F638-1773-58B39659C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996" y="2710187"/>
                <a:ext cx="2370909" cy="3139321"/>
              </a:xfrm>
              <a:prstGeom prst="rect">
                <a:avLst/>
              </a:prstGeom>
              <a:blipFill>
                <a:blip r:embed="rId2"/>
                <a:stretch>
                  <a:fillRect t="-971" r="-514" b="-233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F7AD69A7-05CB-0429-5A25-564A6F96944D}"/>
              </a:ext>
            </a:extLst>
          </p:cNvPr>
          <p:cNvSpPr txBox="1"/>
          <p:nvPr/>
        </p:nvSpPr>
        <p:spPr>
          <a:xfrm>
            <a:off x="4957353" y="2705951"/>
            <a:ext cx="1267098" cy="40862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solidFill>
                  <a:schemeClr val="bg1"/>
                </a:solidFill>
              </a:rPr>
              <a:t>Sequence  </a:t>
            </a:r>
            <a:endParaRPr lang="en-NL" sz="18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85E313-51C8-3999-1D06-58777D818846}"/>
              </a:ext>
            </a:extLst>
          </p:cNvPr>
          <p:cNvSpPr txBox="1"/>
          <p:nvPr/>
        </p:nvSpPr>
        <p:spPr>
          <a:xfrm>
            <a:off x="6342289" y="2705951"/>
            <a:ext cx="901065" cy="40862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Next</a:t>
            </a:r>
            <a:endParaRPr lang="en-NL" sz="18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1EC114-B1A4-6D55-E870-E18C74638922}"/>
              </a:ext>
            </a:extLst>
          </p:cNvPr>
          <p:cNvSpPr txBox="1"/>
          <p:nvPr/>
        </p:nvSpPr>
        <p:spPr>
          <a:xfrm>
            <a:off x="4910544" y="3177133"/>
            <a:ext cx="23709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dirty="0"/>
              <a:t>Sequence length and contents. Additionally;</a:t>
            </a:r>
          </a:p>
          <a:p>
            <a:pPr algn="ctr"/>
            <a:endParaRPr lang="en-GB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9B9B52-9798-4627-B1D6-4BE375DB81B4}"/>
              </a:ext>
            </a:extLst>
          </p:cNvPr>
          <p:cNvSpPr txBox="1"/>
          <p:nvPr/>
        </p:nvSpPr>
        <p:spPr>
          <a:xfrm>
            <a:off x="4850131" y="3639845"/>
            <a:ext cx="2512970" cy="341632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algn="ctr"/>
            <a:r>
              <a:rPr lang="en-GB" sz="1100" dirty="0"/>
              <a:t>Protein;</a:t>
            </a:r>
          </a:p>
          <a:p>
            <a:pPr algn="ctr"/>
            <a:endParaRPr lang="en-GB" sz="1100" dirty="0"/>
          </a:p>
          <a:p>
            <a:pPr marL="171450" indent="-72000">
              <a:buFont typeface="Arial" panose="020B0604020202020204" pitchFamily="34" charset="0"/>
              <a:buChar char="•"/>
            </a:pPr>
            <a:r>
              <a:rPr lang="en-GB" sz="1100" dirty="0"/>
              <a:t>Weight</a:t>
            </a:r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r>
              <a:rPr lang="en-GB" sz="1100" dirty="0"/>
              <a:t>Nucleotide;</a:t>
            </a:r>
          </a:p>
          <a:p>
            <a:pPr algn="ctr"/>
            <a:endParaRPr lang="en-GB" sz="1100" dirty="0"/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Reverse compliment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Open reading frames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GC content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Open reading frame translation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Codon frequency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02F120D-FB00-62CF-528F-97DB662423A4}"/>
              </a:ext>
            </a:extLst>
          </p:cNvPr>
          <p:cNvSpPr/>
          <p:nvPr/>
        </p:nvSpPr>
        <p:spPr>
          <a:xfrm>
            <a:off x="7869826" y="2813110"/>
            <a:ext cx="2090603" cy="91440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 to BLASTP / BLASTN</a:t>
            </a:r>
            <a:endParaRPr lang="en-NL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015BDB-868C-10C6-0996-A25F41EF3628}"/>
              </a:ext>
            </a:extLst>
          </p:cNvPr>
          <p:cNvSpPr txBox="1"/>
          <p:nvPr/>
        </p:nvSpPr>
        <p:spPr>
          <a:xfrm>
            <a:off x="7729672" y="3778344"/>
            <a:ext cx="2370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/>
              <a:t>Suggestion explanation:</a:t>
            </a:r>
          </a:p>
          <a:p>
            <a:pPr algn="ctr"/>
            <a:r>
              <a:rPr lang="en-GB" dirty="0"/>
              <a:t>…</a:t>
            </a:r>
            <a:endParaRPr lang="en-NL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61ABD0D-C558-2628-F759-38965DA96DF7}"/>
              </a:ext>
            </a:extLst>
          </p:cNvPr>
          <p:cNvGrpSpPr/>
          <p:nvPr/>
        </p:nvGrpSpPr>
        <p:grpSpPr>
          <a:xfrm>
            <a:off x="41776" y="1926433"/>
            <a:ext cx="7502288" cy="4066144"/>
            <a:chOff x="197483" y="1887581"/>
            <a:chExt cx="7502288" cy="406614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FE96033-AAE8-35FD-F9C8-579F68006E5A}"/>
                </a:ext>
              </a:extLst>
            </p:cNvPr>
            <p:cNvSpPr/>
            <p:nvPr/>
          </p:nvSpPr>
          <p:spPr>
            <a:xfrm>
              <a:off x="4811251" y="1887582"/>
              <a:ext cx="2888520" cy="4066143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4989E59-4EF1-44D2-F8E6-601AD8F75515}"/>
                </a:ext>
              </a:extLst>
            </p:cNvPr>
            <p:cNvSpPr/>
            <p:nvPr/>
          </p:nvSpPr>
          <p:spPr>
            <a:xfrm>
              <a:off x="197483" y="1887581"/>
              <a:ext cx="2378413" cy="4066143"/>
            </a:xfrm>
            <a:prstGeom prst="rect">
              <a:avLst/>
            </a:prstGeom>
            <a:solidFill>
              <a:srgbClr val="C00000"/>
            </a:solidFill>
            <a:ln w="571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The sequence statistics are printed out. Unique </a:t>
              </a:r>
              <a:r>
                <a:rPr lang="en-GB" dirty="0" err="1"/>
                <a:t>stastics</a:t>
              </a:r>
              <a:r>
                <a:rPr lang="en-GB" dirty="0"/>
                <a:t> for protein and nucleotide will show depending on the input sequences.</a:t>
              </a:r>
              <a:endParaRPr lang="en-NL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99E2FB3-C2DD-1CD7-B1EE-F612F5E658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0736" y="3951614"/>
              <a:ext cx="2340515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6023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B236-DE1D-010D-9963-438417200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39E4D1-228C-945A-88AD-E38147363547}"/>
              </a:ext>
            </a:extLst>
          </p:cNvPr>
          <p:cNvSpPr>
            <a:spLocks noChangeAspect="1"/>
          </p:cNvSpPr>
          <p:nvPr/>
        </p:nvSpPr>
        <p:spPr>
          <a:xfrm>
            <a:off x="1776000" y="549000"/>
            <a:ext cx="8640000" cy="57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F4F01-5BEC-0836-BD3E-7252B95A2B3D}"/>
              </a:ext>
            </a:extLst>
          </p:cNvPr>
          <p:cNvSpPr txBox="1"/>
          <p:nvPr/>
        </p:nvSpPr>
        <p:spPr>
          <a:xfrm>
            <a:off x="2495006" y="698863"/>
            <a:ext cx="33786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File statistics</a:t>
            </a:r>
          </a:p>
          <a:p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Amino acid sequences</a:t>
            </a:r>
            <a:endParaRPr lang="en-GB" sz="1600" dirty="0">
              <a:latin typeface="+mj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7D5B4E-8826-8667-CFED-C06F38201335}"/>
              </a:ext>
            </a:extLst>
          </p:cNvPr>
          <p:cNvCxnSpPr>
            <a:cxnSpLocks/>
          </p:cNvCxnSpPr>
          <p:nvPr/>
        </p:nvCxnSpPr>
        <p:spPr>
          <a:xfrm>
            <a:off x="2496000" y="1812141"/>
            <a:ext cx="72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EC6D110-CDB5-617D-AA3C-A646CC9011EC}"/>
              </a:ext>
            </a:extLst>
          </p:cNvPr>
          <p:cNvSpPr>
            <a:spLocks noChangeAspect="1"/>
          </p:cNvSpPr>
          <p:nvPr/>
        </p:nvSpPr>
        <p:spPr>
          <a:xfrm>
            <a:off x="2045966" y="2612571"/>
            <a:ext cx="2512971" cy="34028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5339C2-0718-E2C0-4353-C91FED4CB6EE}"/>
              </a:ext>
            </a:extLst>
          </p:cNvPr>
          <p:cNvSpPr>
            <a:spLocks noChangeAspect="1"/>
          </p:cNvSpPr>
          <p:nvPr/>
        </p:nvSpPr>
        <p:spPr>
          <a:xfrm>
            <a:off x="4839515" y="2612571"/>
            <a:ext cx="2512971" cy="34028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0CCE93-E15B-E90C-EB3C-CCD4B2F61C31}"/>
              </a:ext>
            </a:extLst>
          </p:cNvPr>
          <p:cNvSpPr>
            <a:spLocks noChangeAspect="1"/>
          </p:cNvSpPr>
          <p:nvPr/>
        </p:nvSpPr>
        <p:spPr>
          <a:xfrm>
            <a:off x="7633065" y="2612571"/>
            <a:ext cx="2512971" cy="34028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18D8A8-8840-71D8-6A6E-A8110FFC030C}"/>
              </a:ext>
            </a:extLst>
          </p:cNvPr>
          <p:cNvSpPr txBox="1"/>
          <p:nvPr/>
        </p:nvSpPr>
        <p:spPr>
          <a:xfrm>
            <a:off x="2529322" y="2132693"/>
            <a:ext cx="1546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Raw contents</a:t>
            </a:r>
            <a:endParaRPr lang="en-N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DFFFB7-F87F-2A11-564D-A0AFF5055EF3}"/>
              </a:ext>
            </a:extLst>
          </p:cNvPr>
          <p:cNvSpPr txBox="1"/>
          <p:nvPr/>
        </p:nvSpPr>
        <p:spPr>
          <a:xfrm>
            <a:off x="5023847" y="2132693"/>
            <a:ext cx="2144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Sequence statistics</a:t>
            </a:r>
            <a:endParaRPr lang="en-NL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7AE47B-4C6A-C1FC-5C0D-EADFB52504B7}"/>
              </a:ext>
            </a:extLst>
          </p:cNvPr>
          <p:cNvSpPr txBox="1"/>
          <p:nvPr/>
        </p:nvSpPr>
        <p:spPr>
          <a:xfrm>
            <a:off x="8032103" y="2127960"/>
            <a:ext cx="171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Tool suggestion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3800E41-7255-9450-E2FD-D057F3DEE075}"/>
                  </a:ext>
                </a:extLst>
              </p:cNvPr>
              <p:cNvSpPr txBox="1"/>
              <p:nvPr/>
            </p:nvSpPr>
            <p:spPr>
              <a:xfrm>
                <a:off x="2116996" y="2710187"/>
                <a:ext cx="2370909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800" dirty="0"/>
                  <a:t>&gt;Sequence header 1</a:t>
                </a:r>
              </a:p>
              <a:p>
                <a:pPr algn="ctr"/>
                <a:r>
                  <a:rPr lang="en-GB" sz="1800" dirty="0"/>
                  <a:t>Protein sequence 1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&gt;Sequence header 2 Protein sequence 2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&gt;…</a:t>
                </a:r>
              </a:p>
              <a:p>
                <a:pPr algn="ctr"/>
                <a:r>
                  <a:rPr lang="en-GB" dirty="0"/>
                  <a:t>…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&gt;Sequence header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/>
              </a:p>
              <a:p>
                <a:pPr algn="ctr"/>
                <a:r>
                  <a:rPr lang="en-GB" dirty="0"/>
                  <a:t>Protein sequence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NL" sz="18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3800E41-7255-9450-E2FD-D057F3DEE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996" y="2710187"/>
                <a:ext cx="2370909" cy="3139321"/>
              </a:xfrm>
              <a:prstGeom prst="rect">
                <a:avLst/>
              </a:prstGeom>
              <a:blipFill>
                <a:blip r:embed="rId2"/>
                <a:stretch>
                  <a:fillRect t="-971" r="-514" b="-233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7795CB94-EEE0-D852-2C31-DF9417E7C877}"/>
              </a:ext>
            </a:extLst>
          </p:cNvPr>
          <p:cNvSpPr txBox="1"/>
          <p:nvPr/>
        </p:nvSpPr>
        <p:spPr>
          <a:xfrm>
            <a:off x="4957353" y="2705951"/>
            <a:ext cx="1267098" cy="40862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solidFill>
                  <a:schemeClr val="bg1"/>
                </a:solidFill>
              </a:rPr>
              <a:t>Sequence  </a:t>
            </a:r>
            <a:endParaRPr lang="en-NL" sz="18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25BF38-D86A-5DFF-A426-21486F8ED5D9}"/>
              </a:ext>
            </a:extLst>
          </p:cNvPr>
          <p:cNvSpPr txBox="1"/>
          <p:nvPr/>
        </p:nvSpPr>
        <p:spPr>
          <a:xfrm>
            <a:off x="6342289" y="2705951"/>
            <a:ext cx="901065" cy="40862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Next</a:t>
            </a:r>
            <a:endParaRPr lang="en-NL" sz="18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C1E984-4FB4-C086-2BB3-0111504C5B86}"/>
              </a:ext>
            </a:extLst>
          </p:cNvPr>
          <p:cNvSpPr txBox="1"/>
          <p:nvPr/>
        </p:nvSpPr>
        <p:spPr>
          <a:xfrm>
            <a:off x="4910544" y="3177133"/>
            <a:ext cx="23709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dirty="0"/>
              <a:t>Sequence length and contents. Additionally;</a:t>
            </a:r>
          </a:p>
          <a:p>
            <a:pPr algn="ctr"/>
            <a:endParaRPr lang="en-GB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54A3AB-3C98-0A5A-5570-D31038FB2C68}"/>
              </a:ext>
            </a:extLst>
          </p:cNvPr>
          <p:cNvSpPr txBox="1"/>
          <p:nvPr/>
        </p:nvSpPr>
        <p:spPr>
          <a:xfrm>
            <a:off x="4850131" y="3639845"/>
            <a:ext cx="2512970" cy="341632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algn="ctr"/>
            <a:r>
              <a:rPr lang="en-GB" sz="1100" dirty="0"/>
              <a:t>Protein;</a:t>
            </a:r>
          </a:p>
          <a:p>
            <a:pPr algn="ctr"/>
            <a:endParaRPr lang="en-GB" sz="1100" dirty="0"/>
          </a:p>
          <a:p>
            <a:pPr marL="171450" indent="-72000">
              <a:buFont typeface="Arial" panose="020B0604020202020204" pitchFamily="34" charset="0"/>
              <a:buChar char="•"/>
            </a:pPr>
            <a:r>
              <a:rPr lang="en-GB" sz="1100" dirty="0"/>
              <a:t>Weight</a:t>
            </a:r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r>
              <a:rPr lang="en-GB" sz="1100" dirty="0"/>
              <a:t>Nucleotide;</a:t>
            </a:r>
          </a:p>
          <a:p>
            <a:pPr algn="ctr"/>
            <a:endParaRPr lang="en-GB" sz="1100" dirty="0"/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Reverse compliment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Open reading frames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GC content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Open reading frame translation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Codon frequency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AD17BD8-A885-07F9-CBCB-50C98A22E9B6}"/>
              </a:ext>
            </a:extLst>
          </p:cNvPr>
          <p:cNvSpPr/>
          <p:nvPr/>
        </p:nvSpPr>
        <p:spPr>
          <a:xfrm>
            <a:off x="7869826" y="2813110"/>
            <a:ext cx="2090603" cy="91440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 to BLASTP / BLASTN</a:t>
            </a:r>
            <a:endParaRPr lang="en-NL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B91D16-E298-7B27-AE77-D2B153965434}"/>
              </a:ext>
            </a:extLst>
          </p:cNvPr>
          <p:cNvSpPr txBox="1"/>
          <p:nvPr/>
        </p:nvSpPr>
        <p:spPr>
          <a:xfrm>
            <a:off x="7729672" y="3778344"/>
            <a:ext cx="2370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/>
              <a:t>Suggestion explanation:</a:t>
            </a:r>
          </a:p>
          <a:p>
            <a:pPr algn="ctr"/>
            <a:r>
              <a:rPr lang="en-GB" dirty="0"/>
              <a:t>…</a:t>
            </a:r>
            <a:endParaRPr lang="en-NL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435EF9B-25EB-6BA6-E6A6-CC8335736C6A}"/>
              </a:ext>
            </a:extLst>
          </p:cNvPr>
          <p:cNvGrpSpPr/>
          <p:nvPr/>
        </p:nvGrpSpPr>
        <p:grpSpPr>
          <a:xfrm>
            <a:off x="41776" y="1926433"/>
            <a:ext cx="6300513" cy="4066143"/>
            <a:chOff x="197483" y="1887581"/>
            <a:chExt cx="6300513" cy="406614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62258B2-BC98-FF69-A4EC-56E85EC331A4}"/>
                </a:ext>
              </a:extLst>
            </p:cNvPr>
            <p:cNvSpPr/>
            <p:nvPr/>
          </p:nvSpPr>
          <p:spPr>
            <a:xfrm>
              <a:off x="4984607" y="2573719"/>
              <a:ext cx="1513389" cy="605584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E0356A5-7569-3635-F2EC-2F55146BA4E3}"/>
                </a:ext>
              </a:extLst>
            </p:cNvPr>
            <p:cNvSpPr/>
            <p:nvPr/>
          </p:nvSpPr>
          <p:spPr>
            <a:xfrm>
              <a:off x="197483" y="1887581"/>
              <a:ext cx="2512971" cy="4066143"/>
            </a:xfrm>
            <a:prstGeom prst="rect">
              <a:avLst/>
            </a:prstGeom>
            <a:solidFill>
              <a:srgbClr val="C00000"/>
            </a:solidFill>
            <a:ln w="571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The sequence section shows which sequence number’s statistics is shown at the moment. That is, the program may </a:t>
              </a:r>
              <a:r>
                <a:rPr lang="en-GB" dirty="0" err="1"/>
                <a:t>tak</a:t>
              </a:r>
              <a:r>
                <a:rPr lang="en-GB" dirty="0"/>
                <a:t> multiple sequences and shows one at a time.</a:t>
              </a:r>
              <a:endParaRPr lang="en-NL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B268036-9CE0-4612-D237-FE42785551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45054" y="2921102"/>
              <a:ext cx="2160538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7161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001C7-97CC-1F4A-5A4C-345C33028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C53845-053F-A7BD-CE06-02426154060D}"/>
              </a:ext>
            </a:extLst>
          </p:cNvPr>
          <p:cNvSpPr>
            <a:spLocks noChangeAspect="1"/>
          </p:cNvSpPr>
          <p:nvPr/>
        </p:nvSpPr>
        <p:spPr>
          <a:xfrm>
            <a:off x="1776000" y="549000"/>
            <a:ext cx="8640000" cy="57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CFB112-1423-5B0D-CB1B-D4D931758B21}"/>
              </a:ext>
            </a:extLst>
          </p:cNvPr>
          <p:cNvSpPr txBox="1"/>
          <p:nvPr/>
        </p:nvSpPr>
        <p:spPr>
          <a:xfrm>
            <a:off x="2495006" y="698863"/>
            <a:ext cx="33786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File statistics</a:t>
            </a:r>
          </a:p>
          <a:p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Amino acid sequences</a:t>
            </a:r>
            <a:endParaRPr lang="en-GB" sz="1600" dirty="0">
              <a:latin typeface="+mj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C0EA5D-2155-CA9B-762F-E4167EB58BCB}"/>
              </a:ext>
            </a:extLst>
          </p:cNvPr>
          <p:cNvCxnSpPr>
            <a:cxnSpLocks/>
          </p:cNvCxnSpPr>
          <p:nvPr/>
        </p:nvCxnSpPr>
        <p:spPr>
          <a:xfrm>
            <a:off x="2496000" y="1812141"/>
            <a:ext cx="72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AB75AC2-5797-283F-DDAA-6AD2FE4EF43D}"/>
              </a:ext>
            </a:extLst>
          </p:cNvPr>
          <p:cNvSpPr>
            <a:spLocks noChangeAspect="1"/>
          </p:cNvSpPr>
          <p:nvPr/>
        </p:nvSpPr>
        <p:spPr>
          <a:xfrm>
            <a:off x="2045966" y="2612571"/>
            <a:ext cx="2512971" cy="34028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C140B2-F973-CC75-C778-967D3CE54323}"/>
              </a:ext>
            </a:extLst>
          </p:cNvPr>
          <p:cNvSpPr>
            <a:spLocks noChangeAspect="1"/>
          </p:cNvSpPr>
          <p:nvPr/>
        </p:nvSpPr>
        <p:spPr>
          <a:xfrm>
            <a:off x="4839515" y="2612571"/>
            <a:ext cx="2512971" cy="34028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37C2B-F584-9388-4EE5-874AA33596B9}"/>
              </a:ext>
            </a:extLst>
          </p:cNvPr>
          <p:cNvSpPr>
            <a:spLocks noChangeAspect="1"/>
          </p:cNvSpPr>
          <p:nvPr/>
        </p:nvSpPr>
        <p:spPr>
          <a:xfrm>
            <a:off x="7633065" y="2612571"/>
            <a:ext cx="2512971" cy="34028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40192A-1743-A698-883C-80714EB20EA8}"/>
              </a:ext>
            </a:extLst>
          </p:cNvPr>
          <p:cNvSpPr txBox="1"/>
          <p:nvPr/>
        </p:nvSpPr>
        <p:spPr>
          <a:xfrm>
            <a:off x="2529322" y="2132693"/>
            <a:ext cx="1546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Raw contents</a:t>
            </a:r>
            <a:endParaRPr lang="en-N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E9B3AF-12BD-CEB7-8F42-BB5DBBD9B202}"/>
              </a:ext>
            </a:extLst>
          </p:cNvPr>
          <p:cNvSpPr txBox="1"/>
          <p:nvPr/>
        </p:nvSpPr>
        <p:spPr>
          <a:xfrm>
            <a:off x="5023847" y="2132693"/>
            <a:ext cx="2144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Sequence statistics</a:t>
            </a:r>
            <a:endParaRPr lang="en-NL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7FBABC-1565-BD56-D61A-08AB065FDD6E}"/>
              </a:ext>
            </a:extLst>
          </p:cNvPr>
          <p:cNvSpPr txBox="1"/>
          <p:nvPr/>
        </p:nvSpPr>
        <p:spPr>
          <a:xfrm>
            <a:off x="8032103" y="2127960"/>
            <a:ext cx="171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Tool suggestion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B127AD3-09FE-F898-EE96-ABFFD90EDEC4}"/>
                  </a:ext>
                </a:extLst>
              </p:cNvPr>
              <p:cNvSpPr txBox="1"/>
              <p:nvPr/>
            </p:nvSpPr>
            <p:spPr>
              <a:xfrm>
                <a:off x="2116996" y="2710187"/>
                <a:ext cx="2370909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800" dirty="0"/>
                  <a:t>&gt;Sequence header 1</a:t>
                </a:r>
              </a:p>
              <a:p>
                <a:pPr algn="ctr"/>
                <a:r>
                  <a:rPr lang="en-GB" sz="1800" dirty="0"/>
                  <a:t>Protein sequence 1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&gt;Sequence header 2 Protein sequence 2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&gt;…</a:t>
                </a:r>
              </a:p>
              <a:p>
                <a:pPr algn="ctr"/>
                <a:r>
                  <a:rPr lang="en-GB" dirty="0"/>
                  <a:t>…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&gt;Sequence header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/>
              </a:p>
              <a:p>
                <a:pPr algn="ctr"/>
                <a:r>
                  <a:rPr lang="en-GB" dirty="0"/>
                  <a:t>Protein sequence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NL" sz="18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B127AD3-09FE-F898-EE96-ABFFD90ED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996" y="2710187"/>
                <a:ext cx="2370909" cy="3139321"/>
              </a:xfrm>
              <a:prstGeom prst="rect">
                <a:avLst/>
              </a:prstGeom>
              <a:blipFill>
                <a:blip r:embed="rId3"/>
                <a:stretch>
                  <a:fillRect t="-971" r="-514" b="-233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C2A3B4F4-3B1D-10AC-3C22-79AB1329AC60}"/>
              </a:ext>
            </a:extLst>
          </p:cNvPr>
          <p:cNvSpPr txBox="1"/>
          <p:nvPr/>
        </p:nvSpPr>
        <p:spPr>
          <a:xfrm>
            <a:off x="4957353" y="2705951"/>
            <a:ext cx="1267098" cy="40862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solidFill>
                  <a:schemeClr val="bg1"/>
                </a:solidFill>
              </a:rPr>
              <a:t>Sequence  </a:t>
            </a:r>
            <a:endParaRPr lang="en-NL" sz="18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E0D786-D29F-238C-F17B-857A88EE8A5C}"/>
              </a:ext>
            </a:extLst>
          </p:cNvPr>
          <p:cNvSpPr txBox="1"/>
          <p:nvPr/>
        </p:nvSpPr>
        <p:spPr>
          <a:xfrm>
            <a:off x="6342289" y="2705951"/>
            <a:ext cx="901065" cy="40862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Next</a:t>
            </a:r>
            <a:endParaRPr lang="en-NL" sz="18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90E825-2FB8-69CA-BCBE-0AFE42F3E71C}"/>
              </a:ext>
            </a:extLst>
          </p:cNvPr>
          <p:cNvSpPr txBox="1"/>
          <p:nvPr/>
        </p:nvSpPr>
        <p:spPr>
          <a:xfrm>
            <a:off x="4910544" y="3177133"/>
            <a:ext cx="23709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dirty="0"/>
              <a:t>Sequence length and contents. Additionally;</a:t>
            </a:r>
          </a:p>
          <a:p>
            <a:pPr algn="ctr"/>
            <a:endParaRPr lang="en-GB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BADAD0-E4CA-CCA4-76BE-AADDFC3D7D2A}"/>
              </a:ext>
            </a:extLst>
          </p:cNvPr>
          <p:cNvSpPr txBox="1"/>
          <p:nvPr/>
        </p:nvSpPr>
        <p:spPr>
          <a:xfrm>
            <a:off x="4850131" y="3639845"/>
            <a:ext cx="2512970" cy="341632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algn="ctr"/>
            <a:r>
              <a:rPr lang="en-GB" sz="1100" dirty="0"/>
              <a:t>Protein;</a:t>
            </a:r>
          </a:p>
          <a:p>
            <a:pPr algn="ctr"/>
            <a:endParaRPr lang="en-GB" sz="1100" dirty="0"/>
          </a:p>
          <a:p>
            <a:pPr marL="171450" indent="-72000">
              <a:buFont typeface="Arial" panose="020B0604020202020204" pitchFamily="34" charset="0"/>
              <a:buChar char="•"/>
            </a:pPr>
            <a:r>
              <a:rPr lang="en-GB" sz="1100" dirty="0"/>
              <a:t>Weight</a:t>
            </a:r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r>
              <a:rPr lang="en-GB" sz="1100" dirty="0"/>
              <a:t>Nucleotide;</a:t>
            </a:r>
          </a:p>
          <a:p>
            <a:pPr algn="ctr"/>
            <a:endParaRPr lang="en-GB" sz="1100" dirty="0"/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Reverse compliment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Open reading frames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GC content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Open reading frame translation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Codon frequency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3A4E738-8A6E-3CF0-F0BF-FDC43D1D755F}"/>
              </a:ext>
            </a:extLst>
          </p:cNvPr>
          <p:cNvSpPr/>
          <p:nvPr/>
        </p:nvSpPr>
        <p:spPr>
          <a:xfrm>
            <a:off x="7869826" y="2813110"/>
            <a:ext cx="2090603" cy="91440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 to BLASTP / BLASTN</a:t>
            </a:r>
            <a:endParaRPr lang="en-NL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A1033F-554D-44C6-50BB-05163ACF9607}"/>
              </a:ext>
            </a:extLst>
          </p:cNvPr>
          <p:cNvSpPr txBox="1"/>
          <p:nvPr/>
        </p:nvSpPr>
        <p:spPr>
          <a:xfrm>
            <a:off x="7729672" y="3778344"/>
            <a:ext cx="2370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/>
              <a:t>Suggestion explanation:</a:t>
            </a:r>
          </a:p>
          <a:p>
            <a:pPr algn="ctr"/>
            <a:r>
              <a:rPr lang="en-GB" dirty="0"/>
              <a:t>…</a:t>
            </a:r>
            <a:endParaRPr lang="en-NL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A3E373A-CE5C-9B30-119B-26CC3DEF41D2}"/>
              </a:ext>
            </a:extLst>
          </p:cNvPr>
          <p:cNvGrpSpPr/>
          <p:nvPr/>
        </p:nvGrpSpPr>
        <p:grpSpPr>
          <a:xfrm>
            <a:off x="41776" y="1926433"/>
            <a:ext cx="7310706" cy="4066143"/>
            <a:chOff x="197483" y="1887581"/>
            <a:chExt cx="7310706" cy="406614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525FC37-59EF-3ADA-9032-3BF07A1D4A9E}"/>
                </a:ext>
              </a:extLst>
            </p:cNvPr>
            <p:cNvSpPr/>
            <p:nvPr/>
          </p:nvSpPr>
          <p:spPr>
            <a:xfrm>
              <a:off x="6448868" y="2573719"/>
              <a:ext cx="1059321" cy="605584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4959C6A-412A-3AD8-9C81-8D1E16BEB688}"/>
                </a:ext>
              </a:extLst>
            </p:cNvPr>
            <p:cNvSpPr/>
            <p:nvPr/>
          </p:nvSpPr>
          <p:spPr>
            <a:xfrm>
              <a:off x="197483" y="1887581"/>
              <a:ext cx="2512971" cy="4066143"/>
            </a:xfrm>
            <a:prstGeom prst="rect">
              <a:avLst/>
            </a:prstGeom>
            <a:solidFill>
              <a:srgbClr val="C00000"/>
            </a:solidFill>
            <a:ln w="571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The ‘Next’ button is interactable and will show the statistics of the next sequence. </a:t>
              </a:r>
              <a:endParaRPr lang="en-NL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6AAC6F0-2687-2F35-C542-57D0BDD4A1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5029" y="2921102"/>
              <a:ext cx="3812967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62104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FE20E-5BDA-BB29-0819-E0D475320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9925E0-442A-64D1-1D38-9EB1CA15B2B3}"/>
              </a:ext>
            </a:extLst>
          </p:cNvPr>
          <p:cNvSpPr>
            <a:spLocks noChangeAspect="1"/>
          </p:cNvSpPr>
          <p:nvPr/>
        </p:nvSpPr>
        <p:spPr>
          <a:xfrm>
            <a:off x="1776000" y="549000"/>
            <a:ext cx="8640000" cy="57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D2864-22B7-BFDD-FAB0-E71E8F24C7D8}"/>
              </a:ext>
            </a:extLst>
          </p:cNvPr>
          <p:cNvSpPr txBox="1"/>
          <p:nvPr/>
        </p:nvSpPr>
        <p:spPr>
          <a:xfrm>
            <a:off x="2495006" y="698863"/>
            <a:ext cx="33786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File statistics</a:t>
            </a:r>
          </a:p>
          <a:p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Amino acid sequences</a:t>
            </a:r>
            <a:endParaRPr lang="en-GB" sz="1600" dirty="0">
              <a:latin typeface="+mj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1EB72F-F4AE-7368-BC03-54ABF1055B8B}"/>
              </a:ext>
            </a:extLst>
          </p:cNvPr>
          <p:cNvCxnSpPr>
            <a:cxnSpLocks/>
          </p:cNvCxnSpPr>
          <p:nvPr/>
        </p:nvCxnSpPr>
        <p:spPr>
          <a:xfrm>
            <a:off x="2496000" y="1812141"/>
            <a:ext cx="72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C403D48-5925-AB2D-1876-6F318B3EF189}"/>
              </a:ext>
            </a:extLst>
          </p:cNvPr>
          <p:cNvSpPr>
            <a:spLocks noChangeAspect="1"/>
          </p:cNvSpPr>
          <p:nvPr/>
        </p:nvSpPr>
        <p:spPr>
          <a:xfrm>
            <a:off x="2045966" y="2612571"/>
            <a:ext cx="2512971" cy="34028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674795-7212-CE73-A259-A171A16E051D}"/>
              </a:ext>
            </a:extLst>
          </p:cNvPr>
          <p:cNvSpPr>
            <a:spLocks noChangeAspect="1"/>
          </p:cNvSpPr>
          <p:nvPr/>
        </p:nvSpPr>
        <p:spPr>
          <a:xfrm>
            <a:off x="4839515" y="2612571"/>
            <a:ext cx="2512971" cy="34028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CDDD3E-BCD3-E265-3980-FC2B36E0D571}"/>
              </a:ext>
            </a:extLst>
          </p:cNvPr>
          <p:cNvSpPr>
            <a:spLocks noChangeAspect="1"/>
          </p:cNvSpPr>
          <p:nvPr/>
        </p:nvSpPr>
        <p:spPr>
          <a:xfrm>
            <a:off x="7633065" y="2612571"/>
            <a:ext cx="2512971" cy="34028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279507-9973-DBBB-D6E7-05F0D40DE166}"/>
              </a:ext>
            </a:extLst>
          </p:cNvPr>
          <p:cNvSpPr txBox="1"/>
          <p:nvPr/>
        </p:nvSpPr>
        <p:spPr>
          <a:xfrm>
            <a:off x="2529322" y="2132693"/>
            <a:ext cx="1546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Raw contents</a:t>
            </a:r>
            <a:endParaRPr lang="en-N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9394FF-52E7-1F27-F61F-A1074A87A8EE}"/>
              </a:ext>
            </a:extLst>
          </p:cNvPr>
          <p:cNvSpPr txBox="1"/>
          <p:nvPr/>
        </p:nvSpPr>
        <p:spPr>
          <a:xfrm>
            <a:off x="5023847" y="2132693"/>
            <a:ext cx="2144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Sequence statistics</a:t>
            </a:r>
            <a:endParaRPr lang="en-NL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FC1F27-BE68-42F0-4062-1956A52BF134}"/>
              </a:ext>
            </a:extLst>
          </p:cNvPr>
          <p:cNvSpPr txBox="1"/>
          <p:nvPr/>
        </p:nvSpPr>
        <p:spPr>
          <a:xfrm>
            <a:off x="8032103" y="2127960"/>
            <a:ext cx="171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Tool suggestion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AFB4C5C-FFC4-56E4-BE2D-40EBAD6C9D8A}"/>
                  </a:ext>
                </a:extLst>
              </p:cNvPr>
              <p:cNvSpPr txBox="1"/>
              <p:nvPr/>
            </p:nvSpPr>
            <p:spPr>
              <a:xfrm>
                <a:off x="2116996" y="2710187"/>
                <a:ext cx="2370909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800" dirty="0"/>
                  <a:t>&gt;Sequence header 1</a:t>
                </a:r>
              </a:p>
              <a:p>
                <a:pPr algn="ctr"/>
                <a:r>
                  <a:rPr lang="en-GB" sz="1800" dirty="0"/>
                  <a:t>Protein sequence 1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&gt;Sequence header 2 Protein sequence 2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&gt;…</a:t>
                </a:r>
              </a:p>
              <a:p>
                <a:pPr algn="ctr"/>
                <a:r>
                  <a:rPr lang="en-GB" dirty="0"/>
                  <a:t>…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&gt;Sequence header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/>
              </a:p>
              <a:p>
                <a:pPr algn="ctr"/>
                <a:r>
                  <a:rPr lang="en-GB" dirty="0"/>
                  <a:t>Protein sequence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NL" sz="18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AFB4C5C-FFC4-56E4-BE2D-40EBAD6C9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996" y="2710187"/>
                <a:ext cx="2370909" cy="3139321"/>
              </a:xfrm>
              <a:prstGeom prst="rect">
                <a:avLst/>
              </a:prstGeom>
              <a:blipFill>
                <a:blip r:embed="rId2"/>
                <a:stretch>
                  <a:fillRect t="-971" r="-514" b="-233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7D168A71-9212-653A-88F3-1E1F8ABACFFF}"/>
              </a:ext>
            </a:extLst>
          </p:cNvPr>
          <p:cNvSpPr txBox="1"/>
          <p:nvPr/>
        </p:nvSpPr>
        <p:spPr>
          <a:xfrm>
            <a:off x="4957353" y="2705951"/>
            <a:ext cx="1267098" cy="40862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solidFill>
                  <a:schemeClr val="bg1"/>
                </a:solidFill>
              </a:rPr>
              <a:t>Sequence  </a:t>
            </a:r>
            <a:endParaRPr lang="en-NL" sz="18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38CCC8-A5B3-D6F3-70BC-7594E32AAB02}"/>
              </a:ext>
            </a:extLst>
          </p:cNvPr>
          <p:cNvSpPr txBox="1"/>
          <p:nvPr/>
        </p:nvSpPr>
        <p:spPr>
          <a:xfrm>
            <a:off x="6342289" y="2705951"/>
            <a:ext cx="901065" cy="40862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Next</a:t>
            </a:r>
            <a:endParaRPr lang="en-NL" sz="18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C8ECCA-3655-87AB-ED5A-1D29EA1D4457}"/>
              </a:ext>
            </a:extLst>
          </p:cNvPr>
          <p:cNvSpPr txBox="1"/>
          <p:nvPr/>
        </p:nvSpPr>
        <p:spPr>
          <a:xfrm>
            <a:off x="4910544" y="3177133"/>
            <a:ext cx="23709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dirty="0"/>
              <a:t>Sequence length and contents. Additionally;</a:t>
            </a:r>
          </a:p>
          <a:p>
            <a:pPr algn="ctr"/>
            <a:endParaRPr lang="en-GB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6CE916-7964-D158-98CB-3A6BD18EAD11}"/>
              </a:ext>
            </a:extLst>
          </p:cNvPr>
          <p:cNvSpPr txBox="1"/>
          <p:nvPr/>
        </p:nvSpPr>
        <p:spPr>
          <a:xfrm>
            <a:off x="4850131" y="3639845"/>
            <a:ext cx="2512970" cy="341632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algn="ctr"/>
            <a:r>
              <a:rPr lang="en-GB" sz="1100" dirty="0"/>
              <a:t>Protein;</a:t>
            </a:r>
          </a:p>
          <a:p>
            <a:pPr algn="ctr"/>
            <a:endParaRPr lang="en-GB" sz="1100" dirty="0"/>
          </a:p>
          <a:p>
            <a:pPr marL="171450" indent="-72000">
              <a:buFont typeface="Arial" panose="020B0604020202020204" pitchFamily="34" charset="0"/>
              <a:buChar char="•"/>
            </a:pPr>
            <a:r>
              <a:rPr lang="en-GB" sz="1100" dirty="0"/>
              <a:t>Weight</a:t>
            </a:r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r>
              <a:rPr lang="en-GB" sz="1100" dirty="0"/>
              <a:t>Nucleotide;</a:t>
            </a:r>
          </a:p>
          <a:p>
            <a:pPr algn="ctr"/>
            <a:endParaRPr lang="en-GB" sz="1100" dirty="0"/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Reverse compliment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Open reading frames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GC content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Open reading frame translation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Codon frequency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203B204-D4C3-058C-9DC7-F81EB96BAF25}"/>
              </a:ext>
            </a:extLst>
          </p:cNvPr>
          <p:cNvSpPr/>
          <p:nvPr/>
        </p:nvSpPr>
        <p:spPr>
          <a:xfrm>
            <a:off x="7869826" y="2813110"/>
            <a:ext cx="2090603" cy="91440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 to BLASTP / BLASTN</a:t>
            </a:r>
            <a:endParaRPr lang="en-NL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F52D5B-2EC8-299E-F12B-F04A3712CFC3}"/>
              </a:ext>
            </a:extLst>
          </p:cNvPr>
          <p:cNvSpPr txBox="1"/>
          <p:nvPr/>
        </p:nvSpPr>
        <p:spPr>
          <a:xfrm>
            <a:off x="7729672" y="3778344"/>
            <a:ext cx="2370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/>
              <a:t>Suggestion explanation:</a:t>
            </a:r>
          </a:p>
          <a:p>
            <a:pPr algn="ctr"/>
            <a:r>
              <a:rPr lang="en-GB" dirty="0"/>
              <a:t>…</a:t>
            </a:r>
            <a:endParaRPr lang="en-NL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E26A64-6C27-9BF6-B24B-D06BE02C4756}"/>
              </a:ext>
            </a:extLst>
          </p:cNvPr>
          <p:cNvGrpSpPr/>
          <p:nvPr/>
        </p:nvGrpSpPr>
        <p:grpSpPr>
          <a:xfrm flipH="1">
            <a:off x="7622449" y="1896687"/>
            <a:ext cx="4538430" cy="4066144"/>
            <a:chOff x="197484" y="1887581"/>
            <a:chExt cx="4538430" cy="406614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DDEC15A-76C7-0648-2185-D9F0B325FC45}"/>
                </a:ext>
              </a:extLst>
            </p:cNvPr>
            <p:cNvSpPr/>
            <p:nvPr/>
          </p:nvSpPr>
          <p:spPr>
            <a:xfrm>
              <a:off x="2344785" y="1887582"/>
              <a:ext cx="2391129" cy="4066143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877EE09-DD76-8022-D541-78C279AF6E18}"/>
                </a:ext>
              </a:extLst>
            </p:cNvPr>
            <p:cNvSpPr/>
            <p:nvPr/>
          </p:nvSpPr>
          <p:spPr>
            <a:xfrm>
              <a:off x="197484" y="1887581"/>
              <a:ext cx="1780724" cy="4066143"/>
            </a:xfrm>
            <a:prstGeom prst="rect">
              <a:avLst/>
            </a:prstGeom>
            <a:solidFill>
              <a:srgbClr val="C00000"/>
            </a:solidFill>
            <a:ln w="571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The program knows whether the sequence contains amino acids or nucleotides and advices the user the correct tool to use next</a:t>
              </a:r>
              <a:endParaRPr lang="en-NL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ED609F3-4C67-EDE6-E510-A647F003EC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5338" y="3951614"/>
              <a:ext cx="36000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73433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AF228-7D3F-B5B0-08C7-860681162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1A29D2-B276-D062-1F78-BE3FC0F02A11}"/>
              </a:ext>
            </a:extLst>
          </p:cNvPr>
          <p:cNvSpPr>
            <a:spLocks noChangeAspect="1"/>
          </p:cNvSpPr>
          <p:nvPr/>
        </p:nvSpPr>
        <p:spPr>
          <a:xfrm>
            <a:off x="1776000" y="549000"/>
            <a:ext cx="8640000" cy="57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0F585D-623D-85E5-9ACB-A6A9A0CF9856}"/>
              </a:ext>
            </a:extLst>
          </p:cNvPr>
          <p:cNvSpPr txBox="1"/>
          <p:nvPr/>
        </p:nvSpPr>
        <p:spPr>
          <a:xfrm>
            <a:off x="2495006" y="698863"/>
            <a:ext cx="33786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b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File statistics</a:t>
            </a:r>
          </a:p>
          <a:p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Amino acid sequences</a:t>
            </a:r>
            <a:endParaRPr lang="en-GB" sz="1600" dirty="0">
              <a:latin typeface="+mj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535440-A08C-1D75-0A6C-A106E38FF9B0}"/>
              </a:ext>
            </a:extLst>
          </p:cNvPr>
          <p:cNvCxnSpPr>
            <a:cxnSpLocks/>
          </p:cNvCxnSpPr>
          <p:nvPr/>
        </p:nvCxnSpPr>
        <p:spPr>
          <a:xfrm>
            <a:off x="2496000" y="1812141"/>
            <a:ext cx="72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EE38CD5-613D-12B6-DB07-9547813022EB}"/>
              </a:ext>
            </a:extLst>
          </p:cNvPr>
          <p:cNvSpPr>
            <a:spLocks noChangeAspect="1"/>
          </p:cNvSpPr>
          <p:nvPr/>
        </p:nvSpPr>
        <p:spPr>
          <a:xfrm>
            <a:off x="2045966" y="2612571"/>
            <a:ext cx="2512971" cy="34028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5F5078-17BB-C73F-A0EF-3D6D273A5B99}"/>
              </a:ext>
            </a:extLst>
          </p:cNvPr>
          <p:cNvSpPr>
            <a:spLocks noChangeAspect="1"/>
          </p:cNvSpPr>
          <p:nvPr/>
        </p:nvSpPr>
        <p:spPr>
          <a:xfrm>
            <a:off x="4839515" y="2612571"/>
            <a:ext cx="2512971" cy="34028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5B02B1-5CC7-BC83-C26F-65F644DB9E27}"/>
              </a:ext>
            </a:extLst>
          </p:cNvPr>
          <p:cNvSpPr>
            <a:spLocks noChangeAspect="1"/>
          </p:cNvSpPr>
          <p:nvPr/>
        </p:nvSpPr>
        <p:spPr>
          <a:xfrm>
            <a:off x="7633065" y="2612571"/>
            <a:ext cx="2512971" cy="34028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A432AB-919E-0314-324A-57EF25BF5F13}"/>
              </a:ext>
            </a:extLst>
          </p:cNvPr>
          <p:cNvSpPr txBox="1"/>
          <p:nvPr/>
        </p:nvSpPr>
        <p:spPr>
          <a:xfrm>
            <a:off x="2529322" y="2132693"/>
            <a:ext cx="1546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Raw contents</a:t>
            </a:r>
            <a:endParaRPr lang="en-N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02CBA3-BCFF-7C60-D01D-8641AC89DFBC}"/>
              </a:ext>
            </a:extLst>
          </p:cNvPr>
          <p:cNvSpPr txBox="1"/>
          <p:nvPr/>
        </p:nvSpPr>
        <p:spPr>
          <a:xfrm>
            <a:off x="5023847" y="2132693"/>
            <a:ext cx="2144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Sequence statistics</a:t>
            </a:r>
            <a:endParaRPr lang="en-NL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82207C-7625-5DF4-FC65-BC0C8B221136}"/>
              </a:ext>
            </a:extLst>
          </p:cNvPr>
          <p:cNvSpPr txBox="1"/>
          <p:nvPr/>
        </p:nvSpPr>
        <p:spPr>
          <a:xfrm>
            <a:off x="8032103" y="2127960"/>
            <a:ext cx="171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Tool suggestion</a:t>
            </a:r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EA9D8EF-9F86-51FC-310E-2B76805510AB}"/>
                  </a:ext>
                </a:extLst>
              </p:cNvPr>
              <p:cNvSpPr txBox="1"/>
              <p:nvPr/>
            </p:nvSpPr>
            <p:spPr>
              <a:xfrm>
                <a:off x="2116996" y="2710187"/>
                <a:ext cx="2370909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800" dirty="0"/>
                  <a:t>&gt;Sequence header 1</a:t>
                </a:r>
              </a:p>
              <a:p>
                <a:pPr algn="ctr"/>
                <a:r>
                  <a:rPr lang="en-GB" sz="1800" dirty="0"/>
                  <a:t>Protein sequence 1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&gt;Sequence header 2 Protein sequence 2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&gt;…</a:t>
                </a:r>
              </a:p>
              <a:p>
                <a:pPr algn="ctr"/>
                <a:r>
                  <a:rPr lang="en-GB" dirty="0"/>
                  <a:t>…</a:t>
                </a:r>
              </a:p>
              <a:p>
                <a:pPr algn="ctr"/>
                <a:endParaRPr lang="en-GB" dirty="0"/>
              </a:p>
              <a:p>
                <a:pPr algn="ctr"/>
                <a:r>
                  <a:rPr lang="en-GB" dirty="0"/>
                  <a:t>&gt;Sequence header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/>
              </a:p>
              <a:p>
                <a:pPr algn="ctr"/>
                <a:r>
                  <a:rPr lang="en-GB" dirty="0"/>
                  <a:t>Protein sequence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NL" sz="18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EA9D8EF-9F86-51FC-310E-2B7680551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996" y="2710187"/>
                <a:ext cx="2370909" cy="3139321"/>
              </a:xfrm>
              <a:prstGeom prst="rect">
                <a:avLst/>
              </a:prstGeom>
              <a:blipFill>
                <a:blip r:embed="rId2"/>
                <a:stretch>
                  <a:fillRect t="-971" r="-514" b="-233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B1E78849-FDF5-1C1F-3D16-F4556F076811}"/>
              </a:ext>
            </a:extLst>
          </p:cNvPr>
          <p:cNvSpPr txBox="1"/>
          <p:nvPr/>
        </p:nvSpPr>
        <p:spPr>
          <a:xfrm>
            <a:off x="4957353" y="2705951"/>
            <a:ext cx="1267098" cy="40862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solidFill>
                  <a:schemeClr val="bg1"/>
                </a:solidFill>
              </a:rPr>
              <a:t>Sequence  </a:t>
            </a:r>
            <a:endParaRPr lang="en-NL" sz="18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C8EA27-AC7B-B0D8-B191-890D0CA1A5D7}"/>
              </a:ext>
            </a:extLst>
          </p:cNvPr>
          <p:cNvSpPr txBox="1"/>
          <p:nvPr/>
        </p:nvSpPr>
        <p:spPr>
          <a:xfrm>
            <a:off x="6342289" y="2705951"/>
            <a:ext cx="901065" cy="40862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Next</a:t>
            </a:r>
            <a:endParaRPr lang="en-NL" sz="18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33578E-E0CC-3062-C851-CEBEF7173554}"/>
              </a:ext>
            </a:extLst>
          </p:cNvPr>
          <p:cNvSpPr txBox="1"/>
          <p:nvPr/>
        </p:nvSpPr>
        <p:spPr>
          <a:xfrm>
            <a:off x="4910544" y="3177133"/>
            <a:ext cx="23709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dirty="0"/>
              <a:t>Sequence length and contents. Additionally;</a:t>
            </a:r>
          </a:p>
          <a:p>
            <a:pPr algn="ctr"/>
            <a:endParaRPr lang="en-GB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9AE585-CEB5-BD5F-CAF4-8BF4BB325A1B}"/>
              </a:ext>
            </a:extLst>
          </p:cNvPr>
          <p:cNvSpPr txBox="1"/>
          <p:nvPr/>
        </p:nvSpPr>
        <p:spPr>
          <a:xfrm>
            <a:off x="4850131" y="3639845"/>
            <a:ext cx="2512970" cy="341632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algn="ctr"/>
            <a:r>
              <a:rPr lang="en-GB" sz="1100" dirty="0"/>
              <a:t>Protein;</a:t>
            </a:r>
          </a:p>
          <a:p>
            <a:pPr algn="ctr"/>
            <a:endParaRPr lang="en-GB" sz="1100" dirty="0"/>
          </a:p>
          <a:p>
            <a:pPr marL="171450" indent="-72000">
              <a:buFont typeface="Arial" panose="020B0604020202020204" pitchFamily="34" charset="0"/>
              <a:buChar char="•"/>
            </a:pPr>
            <a:r>
              <a:rPr lang="en-GB" sz="1100" dirty="0"/>
              <a:t>Weight</a:t>
            </a:r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endParaRPr lang="en-GB" sz="1100" dirty="0"/>
          </a:p>
          <a:p>
            <a:pPr algn="ctr"/>
            <a:r>
              <a:rPr lang="en-GB" sz="1100" dirty="0"/>
              <a:t>Nucleotide;</a:t>
            </a:r>
          </a:p>
          <a:p>
            <a:pPr algn="ctr"/>
            <a:endParaRPr lang="en-GB" sz="1100" dirty="0"/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Reverse compliment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Open reading frames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GC content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Open reading frame translation</a:t>
            </a:r>
          </a:p>
          <a:p>
            <a:pPr marL="285750" indent="-72000">
              <a:buFont typeface="Arial" panose="020B0604020202020204" pitchFamily="34" charset="0"/>
              <a:buChar char="•"/>
            </a:pPr>
            <a:r>
              <a:rPr lang="en-GB" sz="1100" dirty="0"/>
              <a:t>Codon frequency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0802DF2-1B3D-0217-E384-FD805304E7C6}"/>
              </a:ext>
            </a:extLst>
          </p:cNvPr>
          <p:cNvSpPr/>
          <p:nvPr/>
        </p:nvSpPr>
        <p:spPr>
          <a:xfrm>
            <a:off x="7869826" y="2813110"/>
            <a:ext cx="2090603" cy="914400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 to BLASTP / BLASTN</a:t>
            </a:r>
            <a:endParaRPr lang="en-NL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5B96E9-CE04-5412-4015-5DDCECCCFFD0}"/>
              </a:ext>
            </a:extLst>
          </p:cNvPr>
          <p:cNvSpPr txBox="1"/>
          <p:nvPr/>
        </p:nvSpPr>
        <p:spPr>
          <a:xfrm>
            <a:off x="7729672" y="3778344"/>
            <a:ext cx="2370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/>
              <a:t>Suggestion explanation:</a:t>
            </a:r>
          </a:p>
          <a:p>
            <a:pPr algn="ctr"/>
            <a:r>
              <a:rPr lang="en-GB" dirty="0"/>
              <a:t>…</a:t>
            </a:r>
            <a:endParaRPr lang="en-NL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348A33-EB4D-5F4F-9F8A-757339B0C111}"/>
              </a:ext>
            </a:extLst>
          </p:cNvPr>
          <p:cNvGrpSpPr/>
          <p:nvPr/>
        </p:nvGrpSpPr>
        <p:grpSpPr>
          <a:xfrm flipH="1">
            <a:off x="7770939" y="1896687"/>
            <a:ext cx="4389940" cy="4066143"/>
            <a:chOff x="197484" y="1887581"/>
            <a:chExt cx="4389940" cy="406614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EDF57F3-F0A0-8CD0-4215-838F2BD3F980}"/>
                </a:ext>
              </a:extLst>
            </p:cNvPr>
            <p:cNvSpPr/>
            <p:nvPr/>
          </p:nvSpPr>
          <p:spPr>
            <a:xfrm>
              <a:off x="2344788" y="2696845"/>
              <a:ext cx="2242636" cy="1117514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C21701E-B91D-15FA-CFB3-47C80DC96A07}"/>
                </a:ext>
              </a:extLst>
            </p:cNvPr>
            <p:cNvSpPr/>
            <p:nvPr/>
          </p:nvSpPr>
          <p:spPr>
            <a:xfrm>
              <a:off x="197484" y="1887581"/>
              <a:ext cx="1780724" cy="4066143"/>
            </a:xfrm>
            <a:prstGeom prst="rect">
              <a:avLst/>
            </a:prstGeom>
            <a:solidFill>
              <a:srgbClr val="C00000"/>
            </a:solidFill>
            <a:ln w="571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The button can be pressed and will link to the correct tool</a:t>
              </a:r>
              <a:endParaRPr lang="en-NL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E89E098-F90A-5953-0C82-527D74ACCE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5338" y="3356529"/>
              <a:ext cx="36000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86651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1492</TotalTime>
  <Words>815</Words>
  <Application>Microsoft Office PowerPoint</Application>
  <PresentationFormat>Widescreen</PresentationFormat>
  <Paragraphs>387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Ambagtsheer, Chris</dc:creator>
  <cp:lastModifiedBy>Ambagtsheer, Chris</cp:lastModifiedBy>
  <cp:revision>1</cp:revision>
  <dcterms:created xsi:type="dcterms:W3CDTF">2026-04-13T06:48:52Z</dcterms:created>
  <dcterms:modified xsi:type="dcterms:W3CDTF">2026-04-14T07:40:59Z</dcterms:modified>
</cp:coreProperties>
</file>